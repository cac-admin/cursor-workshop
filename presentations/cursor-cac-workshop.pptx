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
            <a:ext cx="10972800" cy="365760"/>
          </a:xfrm>
          <a:prstGeom prst="rect">
            <a:avLst/>
          </a:prstGeom>
          <a:noFill/>
        </p:spPr>
        <p:txBody>
          <a:bodyPr wrap="square">
            <a:spAutoFit/>
          </a:bodyPr>
          <a:lstStyle/>
          <a:p>
            <a:pPr algn="l"/>
            <a:r>
              <a:rPr sz="1400" b="1">
                <a:solidFill>
                  <a:srgbClr val="FABD0F"/>
                </a:solidFill>
                <a:latin typeface="Calibri"/>
              </a:rPr>
              <a:t>Queen's University  |  Centre for Advanced Computing</a:t>
            </a:r>
          </a:p>
        </p:txBody>
      </p:sp>
      <p:sp>
        <p:nvSpPr>
          <p:cNvPr id="10" name="TextBox 9"/>
          <p:cNvSpPr txBox="1"/>
          <p:nvPr/>
        </p:nvSpPr>
        <p:spPr>
          <a:xfrm>
            <a:off x="640080" y="1554480"/>
            <a:ext cx="10972800" cy="1371600"/>
          </a:xfrm>
          <a:prstGeom prst="rect">
            <a:avLst/>
          </a:prstGeom>
          <a:noFill/>
        </p:spPr>
        <p:txBody>
          <a:bodyPr wrap="square">
            <a:spAutoFit/>
          </a:bodyPr>
          <a:lstStyle/>
          <a:p>
            <a:pPr algn="l"/>
            <a:r>
              <a:rPr sz="3600" b="1">
                <a:solidFill>
                  <a:srgbClr val="FFFFFF"/>
                </a:solidFill>
                <a:latin typeface="Calibri"/>
              </a:rPr>
              <a:t>Cursor for Research Computing</a:t>
            </a:r>
          </a:p>
        </p:txBody>
      </p:sp>
      <p:sp>
        <p:nvSpPr>
          <p:cNvPr id="11" name="TextBox 10"/>
          <p:cNvSpPr txBox="1"/>
          <p:nvPr/>
        </p:nvSpPr>
        <p:spPr>
          <a:xfrm>
            <a:off x="640080" y="3108960"/>
            <a:ext cx="10515600" cy="1097280"/>
          </a:xfrm>
          <a:prstGeom prst="rect">
            <a:avLst/>
          </a:prstGeom>
          <a:noFill/>
        </p:spPr>
        <p:txBody>
          <a:bodyPr wrap="square">
            <a:spAutoFit/>
          </a:bodyPr>
          <a:lstStyle/>
          <a:p>
            <a:pPr algn="l"/>
            <a:r>
              <a:rPr sz="1600" b="0">
                <a:solidFill>
                  <a:srgbClr val="B8C4D4"/>
                </a:solidFill>
                <a:latin typeface="Calibri"/>
              </a:rPr>
              <a:t>From Laptop to CAC HPC. Three hours of hands-on practice so you can use an AI coding agent without abandoning scientific judgment, file hygiene, or your SLURM checklist.</a:t>
            </a:r>
          </a:p>
        </p:txBody>
      </p:sp>
      <p:sp>
        <p:nvSpPr>
          <p:cNvPr id="12" name="TextBox 11"/>
          <p:cNvSpPr txBox="1"/>
          <p:nvPr/>
        </p:nvSpPr>
        <p:spPr>
          <a:xfrm>
            <a:off x="640080" y="4389120"/>
            <a:ext cx="10515600" cy="822960"/>
          </a:xfrm>
          <a:prstGeom prst="rect">
            <a:avLst/>
          </a:prstGeom>
          <a:noFill/>
        </p:spPr>
        <p:txBody>
          <a:bodyPr wrap="square">
            <a:spAutoFit/>
          </a:bodyPr>
          <a:lstStyle/>
          <a:p>
            <a:pPr algn="l"/>
            <a:r>
              <a:rPr sz="1400" b="0">
                <a:solidFill>
                  <a:srgbClr val="FABD0F"/>
                </a:solidFill>
                <a:latin typeface="Calibri"/>
              </a:rPr>
              <a:t>Shadi Khalifa, PhD &lt;khalifa.s@queensu.ca&gt;, Centre for Advanced Computing, Queen's University</a:t>
            </a:r>
          </a:p>
        </p:txBody>
      </p:sp>
      <p:sp>
        <p:nvSpPr>
          <p:cNvPr id="13" name="TextBox 12"/>
          <p:cNvSpPr txBox="1"/>
          <p:nvPr/>
        </p:nvSpPr>
        <p:spPr>
          <a:xfrm>
            <a:off x="640080" y="5303520"/>
            <a:ext cx="10515600" cy="457200"/>
          </a:xfrm>
          <a:prstGeom prst="rect">
            <a:avLst/>
          </a:prstGeom>
          <a:noFill/>
        </p:spPr>
        <p:txBody>
          <a:bodyPr wrap="square">
            <a:spAutoFit/>
          </a:bodyPr>
          <a:lstStyle/>
          <a:p>
            <a:pPr algn="l"/>
            <a:r>
              <a:rPr sz="1200" b="0">
                <a:solidFill>
                  <a:srgbClr val="B8C4D4"/>
                </a:solidFill>
                <a:latin typeface="Calibri"/>
              </a:rPr>
              <a:t>3 hours - hands-on  |  Laptop + optional CAC SSH  |  Dry-runs count as success</a:t>
            </a:r>
          </a:p>
        </p:txBody>
      </p:sp>
      <p:pic>
        <p:nvPicPr>
          <p:cNvPr id="14" name="Picture 13" descr="hero-cac-cursor.jpg"/>
          <p:cNvPicPr>
            <a:picLocks noChangeAspect="1"/>
          </p:cNvPicPr>
          <p:nvPr/>
        </p:nvPicPr>
        <p:blipFill>
          <a:blip r:embed="rId2"/>
          <a:stretch>
            <a:fillRect/>
          </a:stretch>
        </p:blipFill>
        <p:spPr>
          <a:xfrm>
            <a:off x="8961120" y="5074920"/>
            <a:ext cx="2651760" cy="1491615"/>
          </a:xfrm>
          <a:prstGeom prst="rect">
            <a:avLst/>
          </a:prstGeom>
        </p:spPr>
      </p:pic>
      <p:sp>
        <p:nvSpPr>
          <p:cNvPr id="15" name="TextBox 14"/>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Cursor the company</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Anysphere builds Cursor</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Cursor is the product of Anysphere, a company focused on AI-native software development tools rather than a generic chatbot bolted onto a text box. The company ships an editor that treats large language models as first-class collaborators inside your project files, terminals, and (when you allow it) external tools.</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You should care about the vendor story only insofar as it explains the product shape: Cursor is not a separate chat website you paste code into.</a:t>
            </a:r>
          </a:p>
          <a:p>
            <a:pPr algn="l">
              <a:spcAft>
                <a:spcPts val="800"/>
              </a:spcAft>
            </a:pPr>
            <a:r>
              <a:rPr sz="1500" b="0">
                <a:solidFill>
                  <a:srgbClr val="0C1A2E"/>
                </a:solidFill>
                <a:latin typeface="Calibri"/>
              </a:rPr>
              <a:t>-  It is a fork of a familiar VS Code-style IDE with deep hooks for agents, rules, skills, and Model Context Protocol servers.</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Cursor the tool</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An IDE with an agent, not a chat window with an afterthought editor</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When you open Cursor you get the editor habits you already know (tabs, git, terminals, extensions) plus a chat and agent panel that can read your workspace, propose diffs, run commands you approve, and follow project rules you define.</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For research computing that combination matters because your work lives in repositories, scripts, SLURM templates, and lab conventions.</a:t>
            </a:r>
          </a:p>
          <a:p>
            <a:pPr algn="l">
              <a:spcAft>
                <a:spcPts val="800"/>
              </a:spcAft>
            </a:pPr>
            <a:r>
              <a:rPr sz="1500" b="0">
                <a:solidFill>
                  <a:srgbClr val="0C1A2E"/>
                </a:solidFill>
                <a:latin typeface="Calibri"/>
              </a:rPr>
              <a:t>-  An agent that can see those files in place is far more useful than one that only sees the last paste you remembered to include.</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Why researchers care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Speed with a seatbelt</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You already write analysis code, chase obscure traceback lines, draft job scripts, and translate methods sections into runnable steps. Cursor can accelerate the boring middle of that work.</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Typical wins: explaining a neighbor's pipeline, drafting argparse, turning a checklist into an sbatch template, or comparing a log against a broken script.</a:t>
            </a:r>
          </a:p>
          <a:p>
            <a:pPr algn="l">
              <a:spcAft>
                <a:spcPts val="800"/>
              </a:spcAft>
            </a:pPr>
            <a:r>
              <a:rPr sz="1500" b="0">
                <a:solidFill>
                  <a:srgbClr val="0C1A2E"/>
                </a:solidFill>
                <a:latin typeface="Calibri"/>
              </a:rPr>
              <a:t>-  What it cannot do is replace your judgment about data sensitivity, cluster etiquette, or whether a bootstrap CI actually matches Algorithm 1.</a:t>
            </a:r>
          </a:p>
          <a:p>
            <a:pPr algn="l">
              <a:spcAft>
                <a:spcPts val="800"/>
              </a:spcAft>
            </a:pPr>
            <a:r>
              <a:rPr sz="1500" b="0">
                <a:solidFill>
                  <a:srgbClr val="0C1A2E"/>
                </a:solidFill>
                <a:latin typeface="Calibri"/>
              </a:rPr>
              <a:t>-  This workshop trains the seatbelt habits so the speed does not become an expensive accident.</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Workshop description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What you will do this afternoon</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You will work through eight use cases, from Privacy Mode and chat hygiene through a GitHub MCP demo, using the synthetic workshop repository rather than your restricted research data.</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Each block combines a short concept explanation with prompts you copy into Cursor and concrete done-when checks so you know you finished for real.</a:t>
            </a:r>
          </a:p>
          <a:p>
            <a:pPr algn="l">
              <a:spcAft>
                <a:spcPts val="800"/>
              </a:spcAft>
            </a:pPr>
            <a:r>
              <a:rPr sz="1500" b="0">
                <a:solidFill>
                  <a:srgbClr val="0C1A2E"/>
                </a:solidFill>
                <a:latin typeface="Calibri"/>
              </a:rPr>
              <a:t>-  If CAC SSH is available you may sync the SLURM exercise and practice remote paths; if not, careful local dry-runs still count.</a:t>
            </a:r>
          </a:p>
          <a:p>
            <a:pPr algn="l">
              <a:spcAft>
                <a:spcPts val="800"/>
              </a:spcAft>
            </a:pPr>
            <a:r>
              <a:rPr sz="1500" b="0">
                <a:solidFill>
                  <a:srgbClr val="0C1A2E"/>
                </a:solidFill>
                <a:latin typeface="Calibri"/>
              </a:rPr>
              <a:t>-  The point is reproducible control: Ask before Agent, attach the few files you need, keep rules in the project, and never invent module names or accounts.</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Workshop description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Where your materials live</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Hands-on work lives under exercises/ for each use case, with shared templates under config/.cursor for rules and skills.</a:t>
            </a:r>
          </a:p>
          <a:p>
            <a:pPr algn="l">
              <a:spcAft>
                <a:spcPts val="800"/>
              </a:spcAft>
            </a:pPr>
            <a:r>
              <a:rPr sz="1500" b="0">
                <a:solidFill>
                  <a:srgbClr val="0C1A2E"/>
                </a:solidFill>
                <a:latin typeface="Calibri"/>
              </a:rPr>
              <a:t>-  Keep handouts/budget-card.md and handouts/privacy-and-context.md nearby; they are the one-page habits cards for privacy, context, and spend.</a:t>
            </a:r>
          </a:p>
          <a:p>
            <a:pPr algn="l">
              <a:spcAft>
                <a:spcPts val="800"/>
              </a:spcAft>
            </a:pPr>
            <a:r>
              <a:rPr sz="1500" b="0">
                <a:solidFill>
                  <a:srgbClr val="0C1A2E"/>
                </a:solidFill>
                <a:latin typeface="Calibri"/>
              </a:rPr>
              <a:t>-  You will not need a separate prompts folder. Every prompt you should type appears on the slides in labeled boxes so you can copy it straight into Cursor.</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 this first</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Privacy Mode how-to</a:t>
            </a:r>
          </a:p>
        </p:txBody>
      </p:sp>
      <p:sp>
        <p:nvSpPr>
          <p:cNvPr id="9" name="TextBox 8"/>
          <p:cNvSpPr txBox="1"/>
          <p:nvPr/>
        </p:nvSpPr>
        <p:spPr>
          <a:xfrm>
            <a:off x="502920" y="1143000"/>
            <a:ext cx="11064240" cy="4910328"/>
          </a:xfrm>
          <a:prstGeom prst="rect">
            <a:avLst/>
          </a:prstGeom>
          <a:noFill/>
        </p:spPr>
        <p:txBody>
          <a:bodyPr wrap="square">
            <a:spAutoFit/>
          </a:bodyPr>
          <a:lstStyle/>
          <a:p>
            <a:pPr algn="l">
              <a:spcAft>
                <a:spcPts val="800"/>
              </a:spcAft>
            </a:pPr>
            <a:r>
              <a:rPr sz="1500" b="0">
                <a:solidFill>
                  <a:srgbClr val="0C1A2E"/>
                </a:solidFill>
                <a:latin typeface="Calibri"/>
              </a:rPr>
              <a:t>-  Windows/Linux: press Ctrl+Shift+J. macOS: Cmd+Shift+J.</a:t>
            </a:r>
          </a:p>
          <a:p>
            <a:pPr algn="l">
              <a:spcAft>
                <a:spcPts val="800"/>
              </a:spcAft>
            </a:pPr>
            <a:r>
              <a:rPr sz="1500" b="0">
                <a:solidFill>
                  <a:srgbClr val="0C1A2E"/>
                </a:solidFill>
                <a:latin typeface="Calibri"/>
              </a:rPr>
              <a:t>-  Open General and turn Privacy Mode on before you paste anything research-shaped.</a:t>
            </a:r>
          </a:p>
          <a:p>
            <a:pPr algn="l">
              <a:spcAft>
                <a:spcPts val="800"/>
              </a:spcAft>
            </a:pPr>
            <a:r>
              <a:rPr sz="1500" b="0">
                <a:solidFill>
                  <a:srgbClr val="0C1A2E"/>
                </a:solidFill>
                <a:latin typeface="Calibri"/>
              </a:rPr>
              <a:t>-  If you are on a Teams or Enterprise seat, check whether an admin already enforces Privacy Mode so you are not fighting policy.</a:t>
            </a:r>
          </a:p>
          <a:p>
            <a:pPr algn="l">
              <a:spcAft>
                <a:spcPts val="800"/>
              </a:spcAft>
            </a:pPr>
            <a:r>
              <a:rPr sz="1500" b="0">
                <a:solidFill>
                  <a:srgbClr val="0C1A2E"/>
                </a:solidFill>
                <a:latin typeface="Calibri"/>
              </a:rPr>
              <a:t>-  Skim handouts/privacy-and-context.md and keep it open while you work.</a:t>
            </a:r>
          </a:p>
        </p:txBody>
      </p:sp>
      <p:sp>
        <p:nvSpPr>
          <p:cNvPr id="10" name="TextBox 9"/>
          <p:cNvSpPr txBox="1"/>
          <p:nvPr/>
        </p:nvSpPr>
        <p:spPr>
          <a:xfrm>
            <a:off x="502920" y="6144768"/>
            <a:ext cx="11064240" cy="320040"/>
          </a:xfrm>
          <a:prstGeom prst="rect">
            <a:avLst/>
          </a:prstGeom>
          <a:noFill/>
        </p:spPr>
        <p:txBody>
          <a:bodyPr wrap="square">
            <a:spAutoFit/>
          </a:bodyPr>
          <a:lstStyle/>
          <a:p>
            <a:pPr algn="l"/>
            <a:r>
              <a:rPr sz="1100" b="0">
                <a:solidFill>
                  <a:srgbClr val="5A6A7E"/>
                </a:solidFill>
                <a:latin typeface="Calibri"/>
              </a:rPr>
              <a:t>Do this before any exercise. Habit beats hope.</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Privacy Mode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What it protects, and what it does not</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With Privacy Mode on for supported models, Cursor documents that your code is not used to train Cursor or the model providers. That is the main protection you are buying with the toggle.</a:t>
            </a:r>
          </a:p>
        </p:txBody>
      </p:sp>
      <p:sp>
        <p:nvSpPr>
          <p:cNvPr id="10" name="TextBox 9"/>
          <p:cNvSpPr txBox="1"/>
          <p:nvPr/>
        </p:nvSpPr>
        <p:spPr>
          <a:xfrm>
            <a:off x="502920" y="2468880"/>
            <a:ext cx="11064240" cy="3584448"/>
          </a:xfrm>
          <a:prstGeom prst="rect">
            <a:avLst/>
          </a:prstGeom>
          <a:noFill/>
        </p:spPr>
        <p:txBody>
          <a:bodyPr wrap="square">
            <a:spAutoFit/>
          </a:bodyPr>
          <a:lstStyle/>
          <a:p>
            <a:pPr algn="l">
              <a:spcAft>
                <a:spcPts val="800"/>
              </a:spcAft>
            </a:pPr>
            <a:r>
              <a:rPr sz="1500" b="0">
                <a:solidFill>
                  <a:srgbClr val="0C1A2E"/>
                </a:solidFill>
                <a:latin typeface="Calibri"/>
              </a:rPr>
              <a:t>-  Prompts and code context still travel to the model provider so answers can be generated. This is not a fully local offline mode.</a:t>
            </a:r>
          </a:p>
          <a:p>
            <a:pPr algn="l">
              <a:spcAft>
                <a:spcPts val="800"/>
              </a:spcAft>
            </a:pPr>
            <a:r>
              <a:rPr sz="1500" b="0">
                <a:solidFill>
                  <a:srgbClr val="0C1A2E"/>
                </a:solidFill>
                <a:latin typeface="Calibri"/>
              </a:rPr>
              <a:t>-  It also does not authorize pasting restricted, clinical, or identifiable research data into chat.</a:t>
            </a:r>
          </a:p>
          <a:p>
            <a:pPr algn="l">
              <a:spcAft>
                <a:spcPts val="800"/>
              </a:spcAft>
            </a:pPr>
            <a:r>
              <a:rPr sz="1500" b="0">
                <a:solidFill>
                  <a:srgbClr val="0C1A2E"/>
                </a:solidFill>
                <a:latin typeface="Calibri"/>
              </a:rPr>
              <a:t>-  Some models need admin approval for provider retention, and bring-your-own-key setups follow the provider's own terms.</a:t>
            </a:r>
          </a:p>
        </p:txBody>
      </p:sp>
      <p:sp>
        <p:nvSpPr>
          <p:cNvPr id="11" name="TextBox 10"/>
          <p:cNvSpPr txBox="1"/>
          <p:nvPr/>
        </p:nvSpPr>
        <p:spPr>
          <a:xfrm>
            <a:off x="502920" y="6144768"/>
            <a:ext cx="11064240" cy="320040"/>
          </a:xfrm>
          <a:prstGeom prst="rect">
            <a:avLst/>
          </a:prstGeom>
          <a:noFill/>
        </p:spPr>
        <p:txBody>
          <a:bodyPr wrap="square">
            <a:spAutoFit/>
          </a:bodyPr>
          <a:lstStyle/>
          <a:p>
            <a:pPr algn="l"/>
            <a:r>
              <a:rPr sz="1100" b="0">
                <a:solidFill>
                  <a:srgbClr val="5A6A7E"/>
                </a:solidFill>
                <a:latin typeface="Calibri"/>
              </a:rPr>
              <a:t>cursor.com/help/security-and-privacy/privacy</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Objectives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What you should be able to do by the end</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Choose Ask, Plan, Agent, or Multitask with intent, keep one research objective per chat, and ground answers in files you actually attach rather than in hopeful invention.</a:t>
            </a:r>
          </a:p>
          <a:p>
            <a:pPr algn="l">
              <a:spcAft>
                <a:spcPts val="800"/>
              </a:spcAft>
            </a:pPr>
            <a:r>
              <a:rPr sz="1500" b="0">
                <a:solidFill>
                  <a:srgbClr val="0C1A2E"/>
                </a:solidFill>
                <a:latin typeface="Calibri"/>
              </a:rPr>
              <a:t>-  Place stable lab policy in Project rules and skills so you stop re-explaining SLURM hygiene in every conversation.</a:t>
            </a:r>
          </a:p>
          <a:p>
            <a:pPr algn="l">
              <a:spcAft>
                <a:spcPts val="800"/>
              </a:spcAft>
            </a:pPr>
            <a:r>
              <a:rPr sz="1500" b="0">
                <a:solidFill>
                  <a:srgbClr val="0C1A2E"/>
                </a:solidFill>
                <a:latin typeface="Calibri"/>
              </a:rPr>
              <a:t>-  Draft a reviewable sbatch script from a checklist, diagnose a broken job from paired stdout/stderr, and decide when a dry-run is the honest stopping point for the day.</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Outcomes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Artifacts you will have produced</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A grounded README for the literacy exercise, a local analysis script with a plot, and practice with /goal and a capped /loop against a mock job status file.</a:t>
            </a:r>
          </a:p>
          <a:p>
            <a:pPr algn="l">
              <a:spcAft>
                <a:spcPts val="800"/>
              </a:spcAft>
            </a:pPr>
            <a:r>
              <a:rPr sz="1500" b="0">
                <a:solidFill>
                  <a:srgbClr val="0C1A2E"/>
                </a:solidFill>
                <a:latin typeface="Calibri"/>
              </a:rPr>
              <a:t>-  A methods replication with notes on fidelity limits, and SLURM scripts that keep account and partition as placeholders.</a:t>
            </a:r>
          </a:p>
          <a:p>
            <a:pPr algn="l">
              <a:spcAft>
                <a:spcPts val="800"/>
              </a:spcAft>
            </a:pPr>
            <a:r>
              <a:rPr sz="1500" b="0">
                <a:solidFill>
                  <a:srgbClr val="0C1A2E"/>
                </a:solidFill>
                <a:latin typeface="Calibri"/>
              </a:rPr>
              <a:t>-  An Explorer-Implementer-Reviewer handoff and a read-then-approve GitHub MCP path. Those habits transfer to your own repos tomorrow morning.</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Agenda - part 1</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Morning path: UC0 Foundations through UC3 Skills</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0:00-0:30  UC0 Foundations: Privacy Mode, chat context, modes, Projects, and tokenomics</a:t>
            </a:r>
          </a:p>
          <a:p>
            <a:pPr algn="l">
              <a:spcAft>
                <a:spcPts val="800"/>
              </a:spcAft>
            </a:pPr>
            <a:r>
              <a:rPr sz="1500" b="0">
                <a:solidFill>
                  <a:srgbClr val="0C1A2E"/>
                </a:solidFill>
                <a:latin typeface="Calibri"/>
              </a:rPr>
              <a:t>-  0:30-0:45  UC1 Codebase literacy and documentation grounding</a:t>
            </a:r>
          </a:p>
          <a:p>
            <a:pPr algn="l">
              <a:spcAft>
                <a:spcPts val="800"/>
              </a:spcAft>
            </a:pPr>
            <a:r>
              <a:rPr sz="1500" b="0">
                <a:solidFill>
                  <a:srgbClr val="0C1A2E"/>
                </a:solidFill>
                <a:latin typeface="Calibri"/>
              </a:rPr>
              <a:t>-  0:45-1:00  UC2 Local analysis pipeline</a:t>
            </a:r>
          </a:p>
          <a:p>
            <a:pPr algn="l">
              <a:spcAft>
                <a:spcPts val="800"/>
              </a:spcAft>
            </a:pPr>
            <a:r>
              <a:rPr sz="1500" b="0">
                <a:solidFill>
                  <a:srgbClr val="0C1A2E"/>
                </a:solidFill>
                <a:latin typeface="Calibri"/>
              </a:rPr>
              <a:t>-  1:00-1:10  Break</a:t>
            </a:r>
          </a:p>
          <a:p>
            <a:pPr algn="l">
              <a:spcAft>
                <a:spcPts val="800"/>
              </a:spcAft>
            </a:pPr>
            <a:r>
              <a:rPr sz="1500" b="0">
                <a:solidFill>
                  <a:srgbClr val="0C1A2E"/>
                </a:solidFill>
                <a:latin typeface="Calibri"/>
              </a:rPr>
              <a:t>-  1:10-1:30  UC3 Skills, /goal, and /loop</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Agenda - part 2</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Afternoon path: UC4 Paper replication through UC7 GitHub MCP</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1:30-1:55  UC4 Paper method replication</a:t>
            </a:r>
          </a:p>
          <a:p>
            <a:pPr algn="l">
              <a:spcAft>
                <a:spcPts val="800"/>
              </a:spcAft>
            </a:pPr>
            <a:r>
              <a:rPr sz="1500" b="0">
                <a:solidFill>
                  <a:srgbClr val="0C1A2E"/>
                </a:solidFill>
                <a:latin typeface="Calibri"/>
              </a:rPr>
              <a:t>-  1:55-2:25  UC5 CAC remote work, SLURM jobs, and debugging</a:t>
            </a:r>
          </a:p>
          <a:p>
            <a:pPr algn="l">
              <a:spcAft>
                <a:spcPts val="800"/>
              </a:spcAft>
            </a:pPr>
            <a:r>
              <a:rPr sz="1500" b="0">
                <a:solidFill>
                  <a:srgbClr val="0C1A2E"/>
                </a:solidFill>
                <a:latin typeface="Calibri"/>
              </a:rPr>
              <a:t>-  2:25-2:30  Break</a:t>
            </a:r>
          </a:p>
          <a:p>
            <a:pPr algn="l">
              <a:spcAft>
                <a:spcPts val="800"/>
              </a:spcAft>
            </a:pPr>
            <a:r>
              <a:rPr sz="1500" b="0">
                <a:solidFill>
                  <a:srgbClr val="0C1A2E"/>
                </a:solidFill>
                <a:latin typeface="Calibri"/>
              </a:rPr>
              <a:t>-  2:30-2:45  UC6 Multi-agent orchestration</a:t>
            </a:r>
          </a:p>
          <a:p>
            <a:pPr algn="l">
              <a:spcAft>
                <a:spcPts val="800"/>
              </a:spcAft>
            </a:pPr>
            <a:r>
              <a:rPr sz="1500" b="0">
                <a:solidFill>
                  <a:srgbClr val="0C1A2E"/>
                </a:solidFill>
                <a:latin typeface="Calibri"/>
              </a:rPr>
              <a:t>-  2:45-3:00  UC7 GitHub MCP demo</a:t>
            </a:r>
          </a:p>
          <a:p>
            <a:pPr algn="l">
              <a:spcAft>
                <a:spcPts val="800"/>
              </a:spcAft>
            </a:pPr>
            <a:r>
              <a:rPr sz="1500" b="0">
                <a:solidFill>
                  <a:srgbClr val="0C1A2E"/>
                </a:solidFill>
                <a:latin typeface="Calibri"/>
              </a:rPr>
              <a:t>-  Dry-run paths are first-class. Not everyone needs a live sbatch today.</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UC0</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UC0 Foundations: Privacy Mode, chat context, modes, Projects, and tokenomics</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The vocabulary and safety habits everything else depends on.</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UC0 Foundations: when you need this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You use UC0 Foundations whenever you open Cursor for research work: before you touch cluster scripts, before you attach a methods brief, and before you let an agent edit files. It is deliberately off-cluster and local so you can practice control without burning SLURM time.</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What you will produce is a mental checklist (Privacy Mode on, mode chosen on purpose, context scoped, budget habits visible) plus a short scratch chat that shows the cost difference between vague Agent prompts and tight Ask-then-Plan-then-Agent sequences.</a:t>
            </a:r>
          </a:p>
          <a:p>
            <a:pPr algn="l">
              <a:spcAft>
                <a:spcPts val="800"/>
              </a:spcAft>
            </a:pPr>
            <a:r>
              <a:rPr sz="1500" b="0">
                <a:solidFill>
                  <a:srgbClr val="0C1A2E"/>
                </a:solidFill>
                <a:latin typeface="Calibri"/>
              </a:rPr>
              <a:t>-  Keep handouts/budget-card.md beside your laptop.</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concepts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Large language models and agents in plain language</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400" b="0">
                <a:solidFill>
                  <a:srgbClr val="0C1A2E"/>
                </a:solidFill>
                <a:latin typeface="Calibri"/>
              </a:rPr>
              <a:t>-  A large language model predicts likely next tokens given the text you and the tools provide. It is extraordinarily good at drafting and explaining, and cheerfully willing to invent module names or cluster accounts that sound plausible.</a:t>
            </a:r>
          </a:p>
          <a:p>
            <a:pPr algn="l">
              <a:spcAft>
                <a:spcPts val="800"/>
              </a:spcAft>
            </a:pPr>
            <a:r>
              <a:rPr sz="1400" b="0">
                <a:solidFill>
                  <a:srgbClr val="0C1A2E"/>
                </a:solidFill>
                <a:latin typeface="Calibri"/>
              </a:rPr>
              <a:t>-  Treat the model as a fast junior collaborator that must cite files, stay inside placeholders when reality is unknown, and accept "I do not know" as a valid answer. Scientific judgment stays with you.</a:t>
            </a:r>
          </a:p>
          <a:p>
            <a:pPr algn="l">
              <a:spcAft>
                <a:spcPts val="800"/>
              </a:spcAft>
            </a:pPr>
            <a:r>
              <a:rPr sz="1400" b="0">
                <a:solidFill>
                  <a:srgbClr val="0C1A2E"/>
                </a:solidFill>
                <a:latin typeface="Calibri"/>
              </a:rPr>
              <a:t>-  In Cursor, an agent is a loop that can read your workspace, propose edits, call tools you have enabled, and iterate toward a goal you stated. Ask mode mostly explains; Agent mode can change the tree.</a:t>
            </a:r>
          </a:p>
          <a:p>
            <a:pPr algn="l">
              <a:spcAft>
                <a:spcPts val="800"/>
              </a:spcAft>
            </a:pPr>
            <a:r>
              <a:rPr sz="1400" b="0">
                <a:solidFill>
                  <a:srgbClr val="0C1A2E"/>
                </a:solidFill>
                <a:latin typeface="Calibri"/>
              </a:rPr>
              <a:t>-  You invite Agent mode when the goal is clear, the files are attached, and you are ready to review diffs. You stay in Ask when you are still mapping the territory.</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concepts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Grounding, MCP, and Projects</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400" b="0">
                <a:solidFill>
                  <a:srgbClr val="0C1A2E"/>
                </a:solidFill>
                <a:latin typeface="Calibri"/>
              </a:rPr>
              <a:t>-  RAG-style grounding means you point the model at the documents that should constrain the answer (lab conventions, checklists, paper briefs) with @ file mentions, Project rules, and skills.</a:t>
            </a:r>
          </a:p>
          <a:p>
            <a:pPr algn="l">
              <a:spcAft>
                <a:spcPts val="800"/>
              </a:spcAft>
            </a:pPr>
            <a:r>
              <a:rPr sz="1400" b="0">
                <a:solidFill>
                  <a:srgbClr val="0C1A2E"/>
                </a:solidFill>
                <a:latin typeface="Calibri"/>
              </a:rPr>
              <a:t>-  When the model answers a conventions question, you should see quotes or clear pointers to the file it used. If it cannot find the policy, it should say so rather than invent one.</a:t>
            </a:r>
          </a:p>
          <a:p>
            <a:pPr algn="l">
              <a:spcAft>
                <a:spcPts val="800"/>
              </a:spcAft>
            </a:pPr>
            <a:r>
              <a:rPr sz="1400" b="0">
                <a:solidFill>
                  <a:srgbClr val="0C1A2E"/>
                </a:solidFill>
                <a:latin typeface="Calibri"/>
              </a:rPr>
              <a:t>-  MCP is a standard way for an agent to talk to external tools through servers you connect, with scopes you choose. Start read-only; draft writes for human approval. You will see it for real in UC7 GitHub MCP demo.</a:t>
            </a:r>
          </a:p>
          <a:p>
            <a:pPr algn="l">
              <a:spcAft>
                <a:spcPts val="800"/>
              </a:spcAft>
            </a:pPr>
            <a:r>
              <a:rPr sz="1400" b="0">
                <a:solidFill>
                  <a:srgbClr val="0C1A2E"/>
                </a:solidFill>
                <a:latin typeface="Calibri"/>
              </a:rPr>
              <a:t>-  A Project keeps stable guidance next to the code: rules that always apply, skills for recurring jobs like drafting SLURM scripts, and the habit of opening the right folder. Workshop templates live under config/.cursor.</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modes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Ask, Plan, Agent, Multitask</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Ask is cheap reconnaissance and explanation. Plan outlines steps without editing. Agent implements with your review. Multitask runs parallel agents when scopes are disjoint and your budget allows.</a:t>
            </a:r>
          </a:p>
        </p:txBody>
      </p:sp>
      <p:sp>
        <p:nvSpPr>
          <p:cNvPr id="10" name="TextBox 9"/>
          <p:cNvSpPr txBox="1"/>
          <p:nvPr/>
        </p:nvSpPr>
        <p:spPr>
          <a:xfrm>
            <a:off x="502920" y="2468880"/>
            <a:ext cx="6583680" cy="3904488"/>
          </a:xfrm>
          <a:prstGeom prst="rect">
            <a:avLst/>
          </a:prstGeom>
          <a:noFill/>
        </p:spPr>
        <p:txBody>
          <a:bodyPr wrap="square">
            <a:spAutoFit/>
          </a:bodyPr>
          <a:lstStyle/>
          <a:p>
            <a:pPr algn="l">
              <a:spcAft>
                <a:spcPts val="800"/>
              </a:spcAft>
            </a:pPr>
            <a:r>
              <a:rPr sz="1300" b="0">
                <a:solidFill>
                  <a:srgbClr val="0C1A2E"/>
                </a:solidFill>
                <a:latin typeface="Calibri"/>
              </a:rPr>
              <a:t>-  Default order for research work: Ask, then Plan, then Agent. Multitask last.</a:t>
            </a:r>
          </a:p>
          <a:p>
            <a:pPr algn="l">
              <a:spcAft>
                <a:spcPts val="800"/>
              </a:spcAft>
            </a:pPr>
            <a:r>
              <a:rPr sz="1300" b="0">
                <a:solidFill>
                  <a:srgbClr val="0C1A2E"/>
                </a:solidFill>
                <a:latin typeface="Calibri"/>
              </a:rPr>
              <a:t>-  Ask: explain files, diagnose logs, extract methods. No edits. Lowest blast radius.</a:t>
            </a:r>
          </a:p>
          <a:p>
            <a:pPr algn="l">
              <a:spcAft>
                <a:spcPts val="800"/>
              </a:spcAft>
            </a:pPr>
            <a:r>
              <a:rPr sz="1300" b="0">
                <a:solidFill>
                  <a:srgbClr val="0C1A2E"/>
                </a:solidFill>
                <a:latin typeface="Calibri"/>
              </a:rPr>
              <a:t>-  Plan: name functions, packages, and verification steps before any diff appears.</a:t>
            </a:r>
          </a:p>
          <a:p>
            <a:pPr algn="l">
              <a:spcAft>
                <a:spcPts val="800"/>
              </a:spcAft>
            </a:pPr>
            <a:r>
              <a:rPr sz="1300" b="0">
                <a:solidFill>
                  <a:srgbClr val="0C1A2E"/>
                </a:solidFill>
                <a:latin typeface="Calibri"/>
              </a:rPr>
              <a:t>-  Agent: implement a plan you already agree with. Review every diff.</a:t>
            </a:r>
          </a:p>
          <a:p>
            <a:pPr algn="l">
              <a:spcAft>
                <a:spcPts val="800"/>
              </a:spcAft>
            </a:pPr>
            <a:r>
              <a:rPr sz="1300" b="0">
                <a:solidFill>
                  <a:srgbClr val="0C1A2E"/>
                </a:solidFill>
                <a:latin typeface="Calibri"/>
              </a:rPr>
              <a:t>-  Multitask: parallel agents on disjoint paths. Never two writers on one file.</a:t>
            </a:r>
          </a:p>
        </p:txBody>
      </p:sp>
      <p:pic>
        <p:nvPicPr>
          <p:cNvPr id="11" name="Picture 10" descr="modes-diagram.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Chat context</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UC0 Foundations: chat context hygiene</a:t>
            </a:r>
          </a:p>
        </p:txBody>
      </p:sp>
      <p:sp>
        <p:nvSpPr>
          <p:cNvPr id="9" name="TextBox 8"/>
          <p:cNvSpPr txBox="1"/>
          <p:nvPr/>
        </p:nvSpPr>
        <p:spPr>
          <a:xfrm>
            <a:off x="502920" y="1143000"/>
            <a:ext cx="5394960" cy="320040"/>
          </a:xfrm>
          <a:prstGeom prst="rect">
            <a:avLst/>
          </a:prstGeom>
          <a:noFill/>
        </p:spPr>
        <p:txBody>
          <a:bodyPr wrap="square">
            <a:spAutoFit/>
          </a:bodyPr>
          <a:lstStyle/>
          <a:p>
            <a:pPr algn="l"/>
            <a:r>
              <a:rPr sz="1600" b="1">
                <a:solidFill>
                  <a:srgbClr val="002452"/>
                </a:solidFill>
                <a:latin typeface="Calibri"/>
              </a:rPr>
              <a:t>What belongs in the same chat</a:t>
            </a:r>
          </a:p>
        </p:txBody>
      </p:sp>
      <p:sp>
        <p:nvSpPr>
          <p:cNvPr id="10" name="TextBox 9"/>
          <p:cNvSpPr txBox="1"/>
          <p:nvPr/>
        </p:nvSpPr>
        <p:spPr>
          <a:xfrm>
            <a:off x="502920" y="1508760"/>
            <a:ext cx="5394960" cy="4389120"/>
          </a:xfrm>
          <a:prstGeom prst="rect">
            <a:avLst/>
          </a:prstGeom>
          <a:noFill/>
        </p:spPr>
        <p:txBody>
          <a:bodyPr wrap="square">
            <a:spAutoFit/>
          </a:bodyPr>
          <a:lstStyle/>
          <a:p>
            <a:pPr algn="l">
              <a:spcAft>
                <a:spcPts val="600"/>
              </a:spcAft>
            </a:pPr>
            <a:r>
              <a:rPr sz="1400" b="0">
                <a:solidFill>
                  <a:srgbClr val="0C1A2E"/>
                </a:solidFill>
                <a:latin typeface="Calibri"/>
              </a:rPr>
              <a:t>-  One objective, short follow-ups, and @ only the files you need for that objective.</a:t>
            </a:r>
          </a:p>
          <a:p>
            <a:pPr algn="l">
              <a:spcAft>
                <a:spcPts val="600"/>
              </a:spcAft>
            </a:pPr>
            <a:r>
              <a:rPr sz="1400" b="0">
                <a:solidFill>
                  <a:srgbClr val="0C1A2E"/>
                </a:solidFill>
                <a:latin typeface="Calibri"/>
              </a:rPr>
              <a:t>-  Ask then Agent is fine when the goal has not changed and the plan is still visible.</a:t>
            </a:r>
          </a:p>
          <a:p>
            <a:pPr algn="l">
              <a:spcAft>
                <a:spcPts val="600"/>
              </a:spcAft>
            </a:pPr>
            <a:r>
              <a:rPr sz="1400" b="0">
                <a:solidFill>
                  <a:srgbClr val="0C1A2E"/>
                </a:solidFill>
                <a:latin typeface="Calibri"/>
              </a:rPr>
              <a:t>-  Stable policy should live in rules and skills, not as a novel you re-paste each morning.</a:t>
            </a:r>
          </a:p>
          <a:p>
            <a:pPr algn="l">
              <a:spcAft>
                <a:spcPts val="600"/>
              </a:spcAft>
            </a:pPr>
            <a:r>
              <a:rPr sz="1400" b="0">
                <a:solidFill>
                  <a:srgbClr val="0C1A2E"/>
                </a:solidFill>
                <a:latin typeface="Calibri"/>
              </a:rPr>
              <a:t>-  Keep restricted or clinical data out of workshop and public threads entirely.</a:t>
            </a:r>
          </a:p>
        </p:txBody>
      </p:sp>
      <p:sp>
        <p:nvSpPr>
          <p:cNvPr id="11" name="TextBox 10"/>
          <p:cNvSpPr txBox="1"/>
          <p:nvPr/>
        </p:nvSpPr>
        <p:spPr>
          <a:xfrm>
            <a:off x="6309360" y="1143000"/>
            <a:ext cx="5394960" cy="320040"/>
          </a:xfrm>
          <a:prstGeom prst="rect">
            <a:avLst/>
          </a:prstGeom>
          <a:noFill/>
        </p:spPr>
        <p:txBody>
          <a:bodyPr wrap="square">
            <a:spAutoFit/>
          </a:bodyPr>
          <a:lstStyle/>
          <a:p>
            <a:pPr algn="l"/>
            <a:r>
              <a:rPr sz="1600" b="1">
                <a:solidFill>
                  <a:srgbClr val="002452"/>
                </a:solidFill>
                <a:latin typeface="Calibri"/>
              </a:rPr>
              <a:t>What does not belong</a:t>
            </a:r>
          </a:p>
        </p:txBody>
      </p:sp>
      <p:sp>
        <p:nvSpPr>
          <p:cNvPr id="12" name="TextBox 11"/>
          <p:cNvSpPr txBox="1"/>
          <p:nvPr/>
        </p:nvSpPr>
        <p:spPr>
          <a:xfrm>
            <a:off x="6309360" y="1508760"/>
            <a:ext cx="5394960" cy="4389120"/>
          </a:xfrm>
          <a:prstGeom prst="rect">
            <a:avLst/>
          </a:prstGeom>
          <a:noFill/>
        </p:spPr>
        <p:txBody>
          <a:bodyPr wrap="square">
            <a:spAutoFit/>
          </a:bodyPr>
          <a:lstStyle/>
          <a:p>
            <a:pPr algn="l">
              <a:spcAft>
                <a:spcPts val="600"/>
              </a:spcAft>
            </a:pPr>
            <a:r>
              <a:rPr sz="1400" b="0">
                <a:solidFill>
                  <a:srgbClr val="0C1A2E"/>
                </a:solidFill>
                <a:latin typeface="Calibri"/>
              </a:rPr>
              <a:t>-  Unrelated topic hopping (README polish morphing into paper replication mid-thread).</a:t>
            </a:r>
          </a:p>
          <a:p>
            <a:pPr algn="l">
              <a:spcAft>
                <a:spcPts val="600"/>
              </a:spcAft>
            </a:pPr>
            <a:r>
              <a:rPr sz="1400" b="0">
                <a:solidFill>
                  <a:srgbClr val="0C1A2E"/>
                </a:solidFill>
                <a:latin typeface="Calibri"/>
              </a:rPr>
              <a:t>-  Re-pasting huge SLURM logs when a tail or grep summary would do.</a:t>
            </a:r>
          </a:p>
          <a:p>
            <a:pPr algn="l">
              <a:spcAft>
                <a:spcPts val="600"/>
              </a:spcAft>
            </a:pPr>
            <a:r>
              <a:rPr sz="1400" b="0">
                <a:solidFill>
                  <a:srgbClr val="0C1A2E"/>
                </a:solidFill>
                <a:latin typeface="Calibri"/>
              </a:rPr>
              <a:t>-  Scope creep after you already said "done".</a:t>
            </a:r>
          </a:p>
          <a:p>
            <a:pPr algn="l">
              <a:spcAft>
                <a:spcPts val="600"/>
              </a:spcAft>
            </a:pPr>
            <a:r>
              <a:rPr sz="1400" b="0">
                <a:solidFill>
                  <a:srgbClr val="0C1A2E"/>
                </a:solidFill>
                <a:latin typeface="Calibri"/>
              </a:rPr>
              <a:t>-  Leaving /loop running while you start another expensive task.</a:t>
            </a:r>
          </a:p>
        </p:txBody>
      </p:sp>
      <p:sp>
        <p:nvSpPr>
          <p:cNvPr id="13" name="TextBox 12"/>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when context is full</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Quality slips before the UI looks dramatic</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Chat context is finite: prior turns, attachments, rules, tool output, and replies all compete for space. When it fills, older turns may drop or compact. Answers get vaguer, contradict earlier decisions, or re-ask questions you already settled, while cost often stays high.</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The fix is boring and effective: open a new chat, paste a three-line handoff, and @ the key files (or a short HANDOFF.md).</a:t>
            </a:r>
          </a:p>
          <a:p>
            <a:pPr algn="l">
              <a:spcAft>
                <a:spcPts val="800"/>
              </a:spcAft>
            </a:pPr>
            <a:r>
              <a:rPr sz="1500" b="0">
                <a:solidFill>
                  <a:srgbClr val="0C1A2E"/>
                </a:solidFill>
                <a:latin typeface="Calibri"/>
              </a:rPr>
              <a:t>-  Put durable policy in rules so you are not rebuilding the lab every session.</a:t>
            </a:r>
          </a:p>
          <a:p>
            <a:pPr algn="l">
              <a:spcAft>
                <a:spcPts val="800"/>
              </a:spcAft>
            </a:pPr>
            <a:r>
              <a:rPr sz="1500" b="0">
                <a:solidFill>
                  <a:srgbClr val="0C1A2E"/>
                </a:solidFill>
                <a:latin typeface="Calibri"/>
              </a:rPr>
              <a:t>-  Full context is not smarter; it is usually noisier and more expensive.</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tokenomics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Included usage vs on-demand</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Your plan includes a monthly usage pool. On-demand usage is pay-as-you-go after that pool, billed for what you used, not a prepaid token pack you buy in advance.</a:t>
            </a:r>
          </a:p>
        </p:txBody>
      </p:sp>
      <p:sp>
        <p:nvSpPr>
          <p:cNvPr id="10" name="TextBox 9"/>
          <p:cNvSpPr txBox="1"/>
          <p:nvPr/>
        </p:nvSpPr>
        <p:spPr>
          <a:xfrm>
            <a:off x="502920" y="2468880"/>
            <a:ext cx="6583680" cy="3584448"/>
          </a:xfrm>
          <a:prstGeom prst="rect">
            <a:avLst/>
          </a:prstGeom>
          <a:noFill/>
        </p:spPr>
        <p:txBody>
          <a:bodyPr wrap="square">
            <a:spAutoFit/>
          </a:bodyPr>
          <a:lstStyle/>
          <a:p>
            <a:pPr algn="l">
              <a:spcAft>
                <a:spcPts val="800"/>
              </a:spcAft>
            </a:pPr>
            <a:r>
              <a:rPr sz="1500" b="0">
                <a:solidFill>
                  <a:srgbClr val="0C1A2E"/>
                </a:solidFill>
                <a:latin typeface="Calibri"/>
              </a:rPr>
              <a:t>-  Check the dashboard before long Agent or Multitask sessions. On Teams, someone should set spending limits before a lab discovers curiosity is expensive.</a:t>
            </a:r>
          </a:p>
          <a:p>
            <a:pPr algn="l">
              <a:spcAft>
                <a:spcPts val="800"/>
              </a:spcAft>
            </a:pPr>
            <a:r>
              <a:rPr sz="1500" b="0">
                <a:solidFill>
                  <a:srgbClr val="0C1A2E"/>
                </a:solidFill>
                <a:latin typeface="Calibri"/>
              </a:rPr>
              <a:t>-  Requests are not silently downgraded in quality or speed when you move to on-demand.</a:t>
            </a:r>
          </a:p>
          <a:p>
            <a:pPr algn="l">
              <a:spcAft>
                <a:spcPts val="800"/>
              </a:spcAft>
            </a:pPr>
            <a:r>
              <a:rPr sz="1500" b="0">
                <a:solidFill>
                  <a:srgbClr val="0C1A2E"/>
                </a:solidFill>
                <a:latin typeface="Calibri"/>
              </a:rPr>
              <a:t>-  Alternative: upgrade the plan for a larger included pool. On-demand is a safety net, not a reason to attach the whole filesystem.</a:t>
            </a:r>
          </a:p>
        </p:txBody>
      </p:sp>
      <p:pic>
        <p:nvPicPr>
          <p:cNvPr id="11" name="Picture 10" descr="tokenomics.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144768"/>
            <a:ext cx="11064240" cy="320040"/>
          </a:xfrm>
          <a:prstGeom prst="rect">
            <a:avLst/>
          </a:prstGeom>
          <a:noFill/>
        </p:spPr>
        <p:txBody>
          <a:bodyPr wrap="square">
            <a:spAutoFit/>
          </a:bodyPr>
          <a:lstStyle/>
          <a:p>
            <a:pPr algn="l"/>
            <a:r>
              <a:rPr sz="1100" b="0">
                <a:solidFill>
                  <a:srgbClr val="5A6A7E"/>
                </a:solidFill>
                <a:latin typeface="Calibri"/>
              </a:rPr>
              <a:t>cursor.com/docs/models-and-pricing  |  handouts/budget-card.md</a:t>
            </a:r>
          </a:p>
        </p:txBody>
      </p:sp>
      <p:sp>
        <p:nvSpPr>
          <p:cNvPr id="13" name="TextBox 12"/>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budget habits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Twelve habits from the budget card</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Privacy Mode first; still no restricted data in prompts.</a:t>
            </a:r>
          </a:p>
          <a:p>
            <a:pPr algn="l">
              <a:spcAft>
                <a:spcPts val="800"/>
              </a:spcAft>
            </a:pPr>
            <a:r>
              <a:rPr sz="1500" b="0">
                <a:solidFill>
                  <a:srgbClr val="0C1A2E"/>
                </a:solidFill>
                <a:latin typeface="Calibri"/>
              </a:rPr>
              <a:t>-  Ask, then Plan, then Agent, then Multitask. Attach few files. One goal per chat.</a:t>
            </a:r>
          </a:p>
          <a:p>
            <a:pPr algn="l">
              <a:spcAft>
                <a:spcPts val="800"/>
              </a:spcAft>
            </a:pPr>
            <a:r>
              <a:rPr sz="1500" b="0">
                <a:solidFill>
                  <a:srgbClr val="0C1A2E"/>
                </a:solidFill>
                <a:latin typeface="Calibri"/>
              </a:rPr>
              <a:t>-  Smaller or faster models for explain and refactor; stronger models for hard bugs or method fidelity.</a:t>
            </a:r>
          </a:p>
          <a:p>
            <a:pPr algn="l">
              <a:spcAft>
                <a:spcPts val="800"/>
              </a:spcAft>
            </a:pPr>
            <a:r>
              <a:rPr sz="1500" b="0">
                <a:solidFill>
                  <a:srgbClr val="0C1A2E"/>
                </a:solidFill>
                <a:latin typeface="Calibri"/>
              </a:rPr>
              <a:t>-  Summarize long SLURM logs before pasting (tail, grep). Cap /loop. One write-scope per agent.</a:t>
            </a:r>
          </a:p>
          <a:p>
            <a:pPr algn="l">
              <a:spcAft>
                <a:spcPts val="800"/>
              </a:spcAft>
            </a:pPr>
            <a:r>
              <a:rPr sz="1500" b="0">
                <a:solidFill>
                  <a:srgbClr val="0C1A2E"/>
                </a:solidFill>
                <a:latin typeface="Calibri"/>
              </a:rPr>
              <a:t>-  MCP: draft, then you click send. Dry-run SLURM review counts as success when you cannot submit today.</a:t>
            </a:r>
          </a:p>
          <a:p>
            <a:pPr algn="l">
              <a:spcAft>
                <a:spcPts val="800"/>
              </a:spcAft>
            </a:pPr>
            <a:r>
              <a:rPr sz="1500" b="0">
                <a:solidFill>
                  <a:srgbClr val="0C1A2E"/>
                </a:solidFill>
                <a:latin typeface="Calibri"/>
              </a:rPr>
              <a:t>-  A long chat with a full context window is often the quiet budget leak.</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UC0 Foundations: Ask, Plan, Agent practice</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Prompt A - Ask mode (copy into Cursor)</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200" b="0">
                <a:solidFill>
                  <a:srgbClr val="0C1A2E"/>
                </a:solidFill>
                <a:latin typeface="Calibri"/>
              </a:rPr>
              <a:t>In Ask mode: In two short paragraphs, explain what files exist under exercises/uc1-codebase-literacy and what problem they seem to solve. Do not edit anything.</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Prompt B - Plan mode (copy into Cursor)</a:t>
            </a:r>
          </a:p>
        </p:txBody>
      </p:sp>
      <p:sp>
        <p:nvSpPr>
          <p:cNvPr id="13" name="Rectangle 12"/>
          <p:cNvSpPr/>
          <p:nvPr/>
        </p:nvSpPr>
        <p:spPr>
          <a:xfrm>
            <a:off x="502920" y="2596896"/>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996696"/>
          </a:xfrm>
          <a:prstGeom prst="rect">
            <a:avLst/>
          </a:prstGeom>
          <a:noFill/>
        </p:spPr>
        <p:txBody>
          <a:bodyPr wrap="square">
            <a:spAutoFit/>
          </a:bodyPr>
          <a:lstStyle/>
          <a:p>
            <a:pPr algn="l"/>
            <a:r>
              <a:rPr sz="1200" b="0">
                <a:solidFill>
                  <a:srgbClr val="0C1A2E"/>
                </a:solidFill>
                <a:latin typeface="Calibri"/>
              </a:rPr>
              <a:t>In Plan mode: I want a README for exercises/uc1-codebase-literacy that a new lab member can trust. Outline sections, which files you would read, and what you would verify by running code. Do not edit yet.</a:t>
            </a:r>
          </a:p>
        </p:txBody>
      </p:sp>
      <p:sp>
        <p:nvSpPr>
          <p:cNvPr id="15" name="TextBox 14"/>
          <p:cNvSpPr txBox="1"/>
          <p:nvPr/>
        </p:nvSpPr>
        <p:spPr>
          <a:xfrm>
            <a:off x="502920" y="3794760"/>
            <a:ext cx="11064240" cy="256032"/>
          </a:xfrm>
          <a:prstGeom prst="rect">
            <a:avLst/>
          </a:prstGeom>
          <a:noFill/>
        </p:spPr>
        <p:txBody>
          <a:bodyPr wrap="square">
            <a:spAutoFit/>
          </a:bodyPr>
          <a:lstStyle/>
          <a:p>
            <a:pPr algn="l"/>
            <a:r>
              <a:rPr sz="1100" b="1">
                <a:solidFill>
                  <a:srgbClr val="B90E31"/>
                </a:solidFill>
                <a:latin typeface="Calibri"/>
              </a:rPr>
              <a:t>Prompt C - Agent mode (copy into Cursor)</a:t>
            </a:r>
          </a:p>
        </p:txBody>
      </p:sp>
      <p:sp>
        <p:nvSpPr>
          <p:cNvPr id="16" name="Rectangle 15"/>
          <p:cNvSpPr/>
          <p:nvPr/>
        </p:nvSpPr>
        <p:spPr>
          <a:xfrm>
            <a:off x="502920" y="405079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105656"/>
            <a:ext cx="10835640" cy="740664"/>
          </a:xfrm>
          <a:prstGeom prst="rect">
            <a:avLst/>
          </a:prstGeom>
          <a:noFill/>
        </p:spPr>
        <p:txBody>
          <a:bodyPr wrap="square">
            <a:spAutoFit/>
          </a:bodyPr>
          <a:lstStyle/>
          <a:p>
            <a:pPr algn="l"/>
            <a:r>
              <a:rPr sz="1200" b="0">
                <a:solidFill>
                  <a:srgbClr val="0C1A2E"/>
                </a:solidFill>
                <a:latin typeface="Calibri"/>
              </a:rPr>
              <a:t>In Agent mode: Using your plan, draft exercises/uc1-codebase-literacy/README.md from README.starter.md. Keep claims tied to files you actually read. Do not touch other use cases.</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You are practicing cheap reconnaissance before any edit.</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UC0 Foundations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UC0 Foundations: token sanity, context, on-demand</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Prompt D - Token sanity (Ask mode)</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200" b="0">
                <a:solidFill>
                  <a:srgbClr val="0C1A2E"/>
                </a:solidFill>
                <a:latin typeface="Calibri"/>
              </a:rPr>
              <a:t>In Ask mode: List five ways the previous Agent prompt could have wasted tokens, and rewrite the Agent prompt to be tighter without losing the goal.</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Prompt E - Context hygiene (Ask mode)</a:t>
            </a:r>
          </a:p>
        </p:txBody>
      </p:sp>
      <p:sp>
        <p:nvSpPr>
          <p:cNvPr id="13" name="Rectangle 12"/>
          <p:cNvSpPr/>
          <p:nvPr/>
        </p:nvSpPr>
        <p:spPr>
          <a:xfrm>
            <a:off x="502920" y="2596896"/>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996696"/>
          </a:xfrm>
          <a:prstGeom prst="rect">
            <a:avLst/>
          </a:prstGeom>
          <a:noFill/>
        </p:spPr>
        <p:txBody>
          <a:bodyPr wrap="square">
            <a:spAutoFit/>
          </a:bodyPr>
          <a:lstStyle/>
          <a:p>
            <a:pPr algn="l"/>
            <a:r>
              <a:rPr sz="1200" b="0">
                <a:solidFill>
                  <a:srgbClr val="0C1A2E"/>
                </a:solidFill>
                <a:latin typeface="Calibri"/>
              </a:rPr>
              <a:t>In Ask mode: We just finished the UC1 README goal. Should I keep using this same chat for UC4 paper replication? Explain in five bullets what happens to answer quality when a chat context is nearly full, and draft a three-line handoff I could paste into a new chat.</a:t>
            </a:r>
          </a:p>
        </p:txBody>
      </p:sp>
      <p:sp>
        <p:nvSpPr>
          <p:cNvPr id="15" name="TextBox 14"/>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Prompt F (discuss, no tokens needed): What is included monthly usage versus on-demand on your seat? Who should set Teams spending limits? Open handouts/budget-card.md and mark habits you already follow.</a:t>
            </a:r>
          </a:p>
        </p:txBody>
      </p:sp>
      <p:sp>
        <p:nvSpPr>
          <p:cNvPr id="16" name="TextBox 15"/>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UC0 Foundations: you are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Privacy Mode is on and you can explain what it does and does not protect.</a:t>
            </a:r>
          </a:p>
          <a:p>
            <a:pPr algn="l">
              <a:spcAft>
                <a:spcPts val="800"/>
              </a:spcAft>
            </a:pPr>
            <a:r>
              <a:rPr sz="1500" b="0">
                <a:solidFill>
                  <a:srgbClr val="0C1A2E"/>
                </a:solidFill>
                <a:latin typeface="Calibri"/>
              </a:rPr>
              <a:t>-  You completed Ask, then Plan, then Agent on a narrow README goal without editing other use cases.</a:t>
            </a:r>
          </a:p>
          <a:p>
            <a:pPr algn="l">
              <a:spcAft>
                <a:spcPts val="800"/>
              </a:spcAft>
            </a:pPr>
            <a:r>
              <a:rPr sz="1500" b="0">
                <a:solidFill>
                  <a:srgbClr val="0C1A2E"/>
                </a:solidFill>
                <a:latin typeface="Calibri"/>
              </a:rPr>
              <a:t>-  You can describe context-full symptoms and produce a three-line handoff.</a:t>
            </a:r>
          </a:p>
          <a:p>
            <a:pPr algn="l">
              <a:spcAft>
                <a:spcPts val="800"/>
              </a:spcAft>
            </a:pPr>
            <a:r>
              <a:rPr sz="1500" b="0">
                <a:solidFill>
                  <a:srgbClr val="0C1A2E"/>
                </a:solidFill>
                <a:latin typeface="Calibri"/>
              </a:rPr>
              <a:t>-  You know included vs on-demand usage and where the budget card lives.</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UC1</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UC1 Codebase literacy and documentation grounding</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Explain real files, then force the answer to cite lab conventions.</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UC1 Codebase literacy: when you need this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You reach for UC1 Codebase literacy and documentation grounding when you inherit a lab folder, need to onboard yourself to a pipeline, or must write a README that a new student can trust. Work stays local under exercises/uc1-codebase-literacy; nothing needs the cluster.</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Researchers often ask an agent to "clean up the code" before anyone can say what the code does. UC1 flips that order: Ask to explain normalize.py and pipeline.py first.</a:t>
            </a:r>
          </a:p>
          <a:p>
            <a:pPr algn="l">
              <a:spcAft>
                <a:spcPts val="800"/>
              </a:spcAft>
            </a:pPr>
            <a:r>
              <a:rPr sz="1500" b="0">
                <a:solidFill>
                  <a:srgbClr val="0C1A2E"/>
                </a:solidFill>
                <a:latin typeface="Calibri"/>
              </a:rPr>
              <a:t>-  Only after that explanation do you ground answers in lab conventions and let Agent update the README. Grounding is how you stop polite fiction from becoming lab policy.</a:t>
            </a:r>
          </a:p>
          <a:p>
            <a:pPr algn="l">
              <a:spcAft>
                <a:spcPts val="800"/>
              </a:spcAft>
            </a:pPr>
            <a:r>
              <a:rPr sz="1500" b="0">
                <a:solidFill>
                  <a:srgbClr val="0C1A2E"/>
                </a:solidFill>
                <a:latin typeface="Calibri"/>
              </a:rPr>
              <a:t>-  You will produce a README whose run instructions match the repo and at least one claim explicitly tied to docs/lab-conventions.md.</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UC1 Codebase literacy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UC1 Codebase literacy: explain, ground, README</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Step 1 - Ask for an explanation</a:t>
            </a:r>
          </a:p>
        </p:txBody>
      </p:sp>
      <p:sp>
        <p:nvSpPr>
          <p:cNvPr id="10" name="Rectangle 9"/>
          <p:cNvSpPr/>
          <p:nvPr/>
        </p:nvSpPr>
        <p:spPr>
          <a:xfrm>
            <a:off x="502920" y="1399032"/>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996696"/>
          </a:xfrm>
          <a:prstGeom prst="rect">
            <a:avLst/>
          </a:prstGeom>
          <a:noFill/>
        </p:spPr>
        <p:txBody>
          <a:bodyPr wrap="square">
            <a:spAutoFit/>
          </a:bodyPr>
          <a:lstStyle/>
          <a:p>
            <a:pPr algn="l"/>
            <a:r>
              <a:rPr sz="1100" b="0">
                <a:solidFill>
                  <a:srgbClr val="0C1A2E"/>
                </a:solidFill>
                <a:latin typeface="Calibri"/>
              </a:rPr>
              <a:t>@exercises/uc1-codebase-literacy/src Explain normalize.py and pipeline.py like I am a researcher who writes Python occasionally. What does each function do, and what could go wrong with messy CSV input?</a:t>
            </a:r>
          </a:p>
        </p:txBody>
      </p:sp>
      <p:sp>
        <p:nvSpPr>
          <p:cNvPr id="12" name="TextBox 11"/>
          <p:cNvSpPr txBox="1"/>
          <p:nvPr/>
        </p:nvSpPr>
        <p:spPr>
          <a:xfrm>
            <a:off x="502920" y="2596896"/>
            <a:ext cx="11064240" cy="256032"/>
          </a:xfrm>
          <a:prstGeom prst="rect">
            <a:avLst/>
          </a:prstGeom>
          <a:noFill/>
        </p:spPr>
        <p:txBody>
          <a:bodyPr wrap="square">
            <a:spAutoFit/>
          </a:bodyPr>
          <a:lstStyle/>
          <a:p>
            <a:pPr algn="l"/>
            <a:r>
              <a:rPr sz="1100" b="1">
                <a:solidFill>
                  <a:srgbClr val="B90E31"/>
                </a:solidFill>
                <a:latin typeface="Calibri"/>
              </a:rPr>
              <a:t>Step 2 - Ground with docs (Ask)</a:t>
            </a:r>
          </a:p>
        </p:txBody>
      </p:sp>
      <p:sp>
        <p:nvSpPr>
          <p:cNvPr id="13" name="Rectangle 12"/>
          <p:cNvSpPr/>
          <p:nvPr/>
        </p:nvSpPr>
        <p:spPr>
          <a:xfrm>
            <a:off x="502920" y="2852928"/>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907792"/>
            <a:ext cx="10835640" cy="996696"/>
          </a:xfrm>
          <a:prstGeom prst="rect">
            <a:avLst/>
          </a:prstGeom>
          <a:noFill/>
        </p:spPr>
        <p:txBody>
          <a:bodyPr wrap="square">
            <a:spAutoFit/>
          </a:bodyPr>
          <a:lstStyle/>
          <a:p>
            <a:pPr algn="l"/>
            <a:r>
              <a:rPr sz="1100" b="0">
                <a:solidFill>
                  <a:srgbClr val="0C1A2E"/>
                </a:solidFill>
                <a:latin typeface="Calibri"/>
              </a:rPr>
              <a:t>Using @exercises/uc1-codebase-literacy/docs/lab-conventions.md and the source files, answer: Does pipeline.py already follow our lab conventions? Quote the convention text you relied on. If something is missing, say what is missing without inventing policy.</a:t>
            </a:r>
          </a:p>
        </p:txBody>
      </p:sp>
      <p:sp>
        <p:nvSpPr>
          <p:cNvPr id="15" name="TextBox 14"/>
          <p:cNvSpPr txBox="1"/>
          <p:nvPr/>
        </p:nvSpPr>
        <p:spPr>
          <a:xfrm>
            <a:off x="502920" y="4050792"/>
            <a:ext cx="11064240" cy="256032"/>
          </a:xfrm>
          <a:prstGeom prst="rect">
            <a:avLst/>
          </a:prstGeom>
          <a:noFill/>
        </p:spPr>
        <p:txBody>
          <a:bodyPr wrap="square">
            <a:spAutoFit/>
          </a:bodyPr>
          <a:lstStyle/>
          <a:p>
            <a:pPr algn="l"/>
            <a:r>
              <a:rPr sz="1100" b="1">
                <a:solidFill>
                  <a:srgbClr val="B90E31"/>
                </a:solidFill>
                <a:latin typeface="Calibri"/>
              </a:rPr>
              <a:t>Step 3 - Agent writes the README</a:t>
            </a:r>
          </a:p>
        </p:txBody>
      </p:sp>
      <p:sp>
        <p:nvSpPr>
          <p:cNvPr id="16" name="Rectangle 15"/>
          <p:cNvSpPr/>
          <p:nvPr/>
        </p:nvSpPr>
        <p:spPr>
          <a:xfrm>
            <a:off x="502920" y="4306824"/>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361688"/>
            <a:ext cx="10835640" cy="740664"/>
          </a:xfrm>
          <a:prstGeom prst="rect">
            <a:avLst/>
          </a:prstGeom>
          <a:noFill/>
        </p:spPr>
        <p:txBody>
          <a:bodyPr wrap="square">
            <a:spAutoFit/>
          </a:bodyPr>
          <a:lstStyle/>
          <a:p>
            <a:pPr algn="l"/>
            <a:r>
              <a:rPr sz="1100" b="0">
                <a:solidFill>
                  <a:srgbClr val="0C1A2E"/>
                </a:solidFill>
                <a:latin typeface="Calibri"/>
              </a:rPr>
              <a:t>Update exercises/uc1-codebase-literacy/README.md so a new student can run the pipeline and knows where conventions live. Cite file paths. Do not invent CAC module names.</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Open folder: exercises/uc1-codebase-literacy (or the whole workshop repo).</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UC1 Codebase literacy: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README run instructions match the repo.</a:t>
            </a:r>
          </a:p>
          <a:p>
            <a:pPr algn="l">
              <a:spcAft>
                <a:spcPts val="800"/>
              </a:spcAft>
            </a:pPr>
            <a:r>
              <a:rPr sz="1500" b="0">
                <a:solidFill>
                  <a:srgbClr val="0C1A2E"/>
                </a:solidFill>
                <a:latin typeface="Calibri"/>
              </a:rPr>
              <a:t>-  At least one claim is explicitly tied to lab-conventions.md.</a:t>
            </a:r>
          </a:p>
          <a:p>
            <a:pPr algn="l">
              <a:spcAft>
                <a:spcPts val="800"/>
              </a:spcAft>
            </a:pPr>
            <a:r>
              <a:rPr sz="1500" b="0">
                <a:solidFill>
                  <a:srgbClr val="0C1A2E"/>
                </a:solidFill>
                <a:latin typeface="Calibri"/>
              </a:rPr>
              <a:t>-  You caught one model mistake, or confirmed there was none after checking.</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UC2</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UC2 Local analysis pipeline</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Plan a small script, implement it, then harden lightly.</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UC2 Local analysis pipeline: when you need this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UC2 Local analysis pipeline is the everyday laptop workflow: load a CSV, clean empties, summarize by condition, write a plot. You work in exercises/uc2-analysis with synthetic data/measurements.csv, still off-cluster.</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Plan mode is where you insist on a small tool surface: standard library plus pandas and matplotlib only if that is already reasonable for your audience.</a:t>
            </a:r>
          </a:p>
          <a:p>
            <a:pPr algn="l">
              <a:spcAft>
                <a:spcPts val="800"/>
              </a:spcAft>
            </a:pPr>
            <a:r>
              <a:rPr sz="1500" b="0">
                <a:solidFill>
                  <a:srgbClr val="0C1A2E"/>
                </a:solidFill>
                <a:latin typeface="Calibri"/>
              </a:rPr>
              <a:t>-  You list steps and packages before any file changes, which keeps Agent from helpfully introducing a project generator you did not ask for.</a:t>
            </a:r>
          </a:p>
          <a:p>
            <a:pPr algn="l">
              <a:spcAft>
                <a:spcPts val="800"/>
              </a:spcAft>
            </a:pPr>
            <a:r>
              <a:rPr sz="1500" b="0">
                <a:solidFill>
                  <a:srgbClr val="0C1A2E"/>
                </a:solidFill>
                <a:latin typeface="Calibri"/>
              </a:rPr>
              <a:t>-  You will produce a runnable analyze.py, an output/mean_by_condition.png plot, and light argparse so paths are not hard-coded forever. Empty treatment rows must not crash the summary.</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UC2 Local analysis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UC2 Local analysis: plan, implement, harden</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Step 1 - Plan the analysis</a:t>
            </a:r>
          </a:p>
        </p:txBody>
      </p:sp>
      <p:sp>
        <p:nvSpPr>
          <p:cNvPr id="10" name="Rectangle 9"/>
          <p:cNvSpPr/>
          <p:nvPr/>
        </p:nvSpPr>
        <p:spPr>
          <a:xfrm>
            <a:off x="502920" y="1399032"/>
            <a:ext cx="11064240" cy="1344168"/>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1252728"/>
          </a:xfrm>
          <a:prstGeom prst="rect">
            <a:avLst/>
          </a:prstGeom>
          <a:noFill/>
        </p:spPr>
        <p:txBody>
          <a:bodyPr wrap="square">
            <a:spAutoFit/>
          </a:bodyPr>
          <a:lstStyle/>
          <a:p>
            <a:pPr algn="l"/>
            <a:r>
              <a:rPr sz="1100" b="0">
                <a:solidFill>
                  <a:srgbClr val="0C1A2E"/>
                </a:solidFill>
                <a:latin typeface="Calibri"/>
              </a:rPr>
              <a:t>Plan mode: Expand analyze_starter.py into a small analysis script that (1) loads data/measurements.csv (2) drops empty values (3) summarizes mean and count by condition (4) writes a simple bar plot to output/mean_by_condition.png. List packages you will use. Prefer the standard library plus pandas/matplotlib only if already reasonable. Do not edit yet.</a:t>
            </a:r>
          </a:p>
        </p:txBody>
      </p:sp>
      <p:sp>
        <p:nvSpPr>
          <p:cNvPr id="12" name="TextBox 11"/>
          <p:cNvSpPr txBox="1"/>
          <p:nvPr/>
        </p:nvSpPr>
        <p:spPr>
          <a:xfrm>
            <a:off x="502920" y="2852928"/>
            <a:ext cx="11064240" cy="256032"/>
          </a:xfrm>
          <a:prstGeom prst="rect">
            <a:avLst/>
          </a:prstGeom>
          <a:noFill/>
        </p:spPr>
        <p:txBody>
          <a:bodyPr wrap="square">
            <a:spAutoFit/>
          </a:bodyPr>
          <a:lstStyle/>
          <a:p>
            <a:pPr algn="l"/>
            <a:r>
              <a:rPr sz="1100" b="1">
                <a:solidFill>
                  <a:srgbClr val="B90E31"/>
                </a:solidFill>
                <a:latin typeface="Calibri"/>
              </a:rPr>
              <a:t>Step 2 - Agent implements</a:t>
            </a:r>
          </a:p>
        </p:txBody>
      </p:sp>
      <p:sp>
        <p:nvSpPr>
          <p:cNvPr id="13" name="Rectangle 12"/>
          <p:cNvSpPr/>
          <p:nvPr/>
        </p:nvSpPr>
        <p:spPr>
          <a:xfrm>
            <a:off x="502920" y="3108960"/>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3163824"/>
            <a:ext cx="10835640" cy="740664"/>
          </a:xfrm>
          <a:prstGeom prst="rect">
            <a:avLst/>
          </a:prstGeom>
          <a:noFill/>
        </p:spPr>
        <p:txBody>
          <a:bodyPr wrap="square">
            <a:spAutoFit/>
          </a:bodyPr>
          <a:lstStyle/>
          <a:p>
            <a:pPr algn="l"/>
            <a:r>
              <a:rPr sz="1100" b="0">
                <a:solidFill>
                  <a:srgbClr val="0C1A2E"/>
                </a:solidFill>
                <a:latin typeface="Calibri"/>
              </a:rPr>
              <a:t>Agent mode: Implement the plan in analyze.py (you may replace or extend the starter). Create output/ if needed. Keep the script runnable with: python analyze.py</a:t>
            </a:r>
          </a:p>
        </p:txBody>
      </p:sp>
      <p:sp>
        <p:nvSpPr>
          <p:cNvPr id="15" name="TextBox 14"/>
          <p:cNvSpPr txBox="1"/>
          <p:nvPr/>
        </p:nvSpPr>
        <p:spPr>
          <a:xfrm>
            <a:off x="502920" y="4050792"/>
            <a:ext cx="11064240" cy="256032"/>
          </a:xfrm>
          <a:prstGeom prst="rect">
            <a:avLst/>
          </a:prstGeom>
          <a:noFill/>
        </p:spPr>
        <p:txBody>
          <a:bodyPr wrap="square">
            <a:spAutoFit/>
          </a:bodyPr>
          <a:lstStyle/>
          <a:p>
            <a:pPr algn="l"/>
            <a:r>
              <a:rPr sz="1100" b="1">
                <a:solidFill>
                  <a:srgbClr val="B90E31"/>
                </a:solidFill>
                <a:latin typeface="Calibri"/>
              </a:rPr>
              <a:t>Step 3 - Light harden</a:t>
            </a:r>
          </a:p>
        </p:txBody>
      </p:sp>
      <p:sp>
        <p:nvSpPr>
          <p:cNvPr id="16" name="Rectangle 15"/>
          <p:cNvSpPr/>
          <p:nvPr/>
        </p:nvSpPr>
        <p:spPr>
          <a:xfrm>
            <a:off x="502920" y="4306824"/>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361688"/>
            <a:ext cx="10835640" cy="740664"/>
          </a:xfrm>
          <a:prstGeom prst="rect">
            <a:avLst/>
          </a:prstGeom>
          <a:noFill/>
        </p:spPr>
        <p:txBody>
          <a:bodyPr wrap="square">
            <a:spAutoFit/>
          </a:bodyPr>
          <a:lstStyle/>
          <a:p>
            <a:pPr algn="l"/>
            <a:r>
              <a:rPr sz="1100" b="0">
                <a:solidFill>
                  <a:srgbClr val="0C1A2E"/>
                </a:solidFill>
                <a:latin typeface="Calibri"/>
              </a:rPr>
              <a:t>Add argparse so I can pass --data and --outdir. Add a one-line docstring at the top describing the expected columns. Do not add a large framework.</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Open: exercises/uc2-analysis</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UC2 Local analysis pipeline: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The script runs locally with python analyze.py.</a:t>
            </a:r>
          </a:p>
          <a:p>
            <a:pPr algn="l">
              <a:spcAft>
                <a:spcPts val="800"/>
              </a:spcAft>
            </a:pPr>
            <a:r>
              <a:rPr sz="1500" b="0">
                <a:solidFill>
                  <a:srgbClr val="0C1A2E"/>
                </a:solidFill>
                <a:latin typeface="Calibri"/>
              </a:rPr>
              <a:t>-  The plot exists under output/.</a:t>
            </a:r>
          </a:p>
          <a:p>
            <a:pPr algn="l">
              <a:spcAft>
                <a:spcPts val="800"/>
              </a:spcAft>
            </a:pPr>
            <a:r>
              <a:rPr sz="1500" b="0">
                <a:solidFill>
                  <a:srgbClr val="0C1A2E"/>
                </a:solidFill>
                <a:latin typeface="Calibri"/>
              </a:rPr>
              <a:t>-  An empty treatment row does not crash the summary.</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Pause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Break (10 minutes)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Stretch. Refill coffee. Resist opening twelve new Agent chats just to try.</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We return with skills, /goal, and a capped /loop against STATUS.mock.txt.</a:t>
            </a:r>
          </a:p>
          <a:p>
            <a:pPr algn="l">
              <a:spcAft>
                <a:spcPts val="800"/>
              </a:spcAft>
            </a:pPr>
            <a:r>
              <a:rPr sz="1500" b="0">
                <a:solidFill>
                  <a:srgbClr val="0C1A2E"/>
                </a:solidFill>
                <a:latin typeface="Calibri"/>
              </a:rPr>
              <a:t>-  If UC2 is unfinished, finish the plot first; polish later.</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UC3</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UC3 Skills, /goal, and /loop</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Reusable skills, a sticky goal statement, and capped polling.</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UC3 Skills, /goal, and /loop: when you need this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UC3 Skills, /goal, and /loop is for the moment your analysis script needs to become job-shaped without you retyping the same SLURM advice. You copy workshop skill and rule templates from config/.cursor, set a durable goal, and optionally poll a mock status file so you learn to stop loops on purpose.</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Work is mostly local; the skill drafts SLURM content with placeholders, and you dry-run only.</a:t>
            </a:r>
          </a:p>
          <a:p>
            <a:pPr algn="l">
              <a:spcAft>
                <a:spcPts val="800"/>
              </a:spcAft>
            </a:pPr>
            <a:r>
              <a:rPr sz="1500" b="0">
                <a:solidFill>
                  <a:srgbClr val="0C1A2E"/>
                </a:solidFill>
                <a:latin typeface="Calibri"/>
              </a:rPr>
              <a:t>-  Materials live under exercises/uc3-skills-directives with a mock status file you can edit yourself.</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UC3 Skills - how-to</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Reusable playbooks the agent can load on demand</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A skill is a packaged set of instructions for a recurring job (here, drafting a reviewable sbatch script with time, cpus, mem, logs, and an explicit working directory). Unlike a one-off chat paragraph, a skill survives across sessions once it lives in your project or personal skills store.</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Before prompts, copy config/.cursor/skills/cac-slurm-job into the project .cursor/skills/ (or your user skills store).</a:t>
            </a:r>
          </a:p>
          <a:p>
            <a:pPr algn="l">
              <a:spcAft>
                <a:spcPts val="800"/>
              </a:spcAft>
            </a:pPr>
            <a:r>
              <a:rPr sz="1500" b="0">
                <a:solidFill>
                  <a:srgbClr val="0C1A2E"/>
                </a:solidFill>
                <a:latin typeface="Calibri"/>
              </a:rPr>
              <a:t>-  Copy config/.cursor/rules/cac-research.mdc into .cursor/rules/.</a:t>
            </a:r>
          </a:p>
          <a:p>
            <a:pPr algn="l">
              <a:spcAft>
                <a:spcPts val="800"/>
              </a:spcAft>
            </a:pPr>
            <a:r>
              <a:rPr sz="1500" b="0">
                <a:solidFill>
                  <a:srgbClr val="0C1A2E"/>
                </a:solidFill>
                <a:latin typeface="Calibri"/>
              </a:rPr>
              <a:t>-  Those standing rules mean you stop retyping "do not invent CAC modules" into every chat.</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UC3 /goal - when and how</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A sticky north star across several tool steps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Use /goal when the next fifteen minutes will involve multiple prompts, a skill invocation, and maybe a loop, and you do not want the agent to quietly redefine success as "wrote any script." The goal statement stays visible and useful across steps.</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A good research goal names the artifact, the environment constraints (SLURM-ready, dry-run only), and the non-goals (do not submit).</a:t>
            </a:r>
          </a:p>
          <a:p>
            <a:pPr algn="l">
              <a:spcAft>
                <a:spcPts val="800"/>
              </a:spcAft>
            </a:pPr>
            <a:r>
              <a:rPr sz="1500" b="0">
                <a:solidFill>
                  <a:srgbClr val="0C1A2E"/>
                </a:solidFill>
                <a:latin typeface="Calibri"/>
              </a:rPr>
              <a:t>-  Vague goals like "make it better" invite expensive wandering.</a:t>
            </a:r>
          </a:p>
          <a:p>
            <a:pPr algn="l">
              <a:spcAft>
                <a:spcPts val="800"/>
              </a:spcAft>
            </a:pPr>
            <a:r>
              <a:rPr sz="1500" b="0">
                <a:solidFill>
                  <a:srgbClr val="0C1A2E"/>
                </a:solidFill>
                <a:latin typeface="Calibri"/>
              </a:rPr>
              <a:t>-  Research example: your UC2 analyze.py already runs on the laptop. The need is not more features; it is that this must be callable under SLURM with a data path via env or argparse, plus a draft sbatch that uses the cac-slurm-job skill.</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UC3 Skills and directives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UC3 Skills: set /goal and invoke the skill</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Step 1 - Set /goal (copy into Cursor)</a:t>
            </a:r>
          </a:p>
        </p:txBody>
      </p:sp>
      <p:sp>
        <p:nvSpPr>
          <p:cNvPr id="10" name="Rectangle 9"/>
          <p:cNvSpPr/>
          <p:nvPr/>
        </p:nvSpPr>
        <p:spPr>
          <a:xfrm>
            <a:off x="502920" y="1399032"/>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996696"/>
          </a:xfrm>
          <a:prstGeom prst="rect">
            <a:avLst/>
          </a:prstGeom>
          <a:noFill/>
        </p:spPr>
        <p:txBody>
          <a:bodyPr wrap="square">
            <a:spAutoFit/>
          </a:bodyPr>
          <a:lstStyle/>
          <a:p>
            <a:pPr algn="l"/>
            <a:r>
              <a:rPr sz="1200" b="0">
                <a:solidFill>
                  <a:srgbClr val="0C1A2E"/>
                </a:solidFill>
                <a:latin typeface="Calibri"/>
              </a:rPr>
              <a:t>/goal Make exercises/uc2-analysis/analyze.py (or analyze_starter.py if analyze.py is missing) ready to run under SLURM on CAC: working entrypoint, data path via env or argparse, and a draft sbatch script using the cac-slurm-job skill. Dry-run only; do not submit.</a:t>
            </a:r>
          </a:p>
        </p:txBody>
      </p:sp>
      <p:sp>
        <p:nvSpPr>
          <p:cNvPr id="12" name="TextBox 11"/>
          <p:cNvSpPr txBox="1"/>
          <p:nvPr/>
        </p:nvSpPr>
        <p:spPr>
          <a:xfrm>
            <a:off x="502920" y="2596896"/>
            <a:ext cx="11064240" cy="256032"/>
          </a:xfrm>
          <a:prstGeom prst="rect">
            <a:avLst/>
          </a:prstGeom>
          <a:noFill/>
        </p:spPr>
        <p:txBody>
          <a:bodyPr wrap="square">
            <a:spAutoFit/>
          </a:bodyPr>
          <a:lstStyle/>
          <a:p>
            <a:pPr algn="l"/>
            <a:r>
              <a:rPr sz="1100" b="1">
                <a:solidFill>
                  <a:srgbClr val="B90E31"/>
                </a:solidFill>
                <a:latin typeface="Calibri"/>
              </a:rPr>
              <a:t>Step 2 - Invoke the skill explicitly</a:t>
            </a:r>
          </a:p>
        </p:txBody>
      </p:sp>
      <p:sp>
        <p:nvSpPr>
          <p:cNvPr id="13" name="Rectangle 12"/>
          <p:cNvSpPr/>
          <p:nvPr/>
        </p:nvSpPr>
        <p:spPr>
          <a:xfrm>
            <a:off x="502920" y="2852928"/>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907792"/>
            <a:ext cx="10835640" cy="996696"/>
          </a:xfrm>
          <a:prstGeom prst="rect">
            <a:avLst/>
          </a:prstGeom>
          <a:noFill/>
        </p:spPr>
        <p:txBody>
          <a:bodyPr wrap="square">
            <a:spAutoFit/>
          </a:bodyPr>
          <a:lstStyle/>
          <a:p>
            <a:pPr algn="l"/>
            <a:r>
              <a:rPr sz="1200" b="0">
                <a:solidFill>
                  <a:srgbClr val="0C1A2E"/>
                </a:solidFill>
                <a:latin typeface="Calibri"/>
              </a:rPr>
              <a:t>Using the cac-slurm-job skill, draft exercises/uc5-cac-slurm/scripts/job.generated.sh for python scripts/analyze_job.py with 10 minutes, 1 CPU, 2G memory. Keep account/partition as placeholders. List verify-before-submit bullets.</a:t>
            </a:r>
          </a:p>
        </p:txBody>
      </p:sp>
      <p:sp>
        <p:nvSpPr>
          <p:cNvPr id="15" name="TextBox 14"/>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UC3 /loop - exact how</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Watch STATUS.mock.txt like a tiny SLURM status board</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Use /loop when you are watching an external signal: a job status file, a build log path, a mock queue. Always set an interval and a maximum number of ticks, and define the stop states (DONE, FAILED) up front. Unbounded loops are how curiosity becomes an invoice.</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300" b="0">
                <a:solidFill>
                  <a:srgbClr val="0C1A2E"/>
                </a:solidFill>
                <a:latin typeface="Calibri"/>
              </a:rPr>
              <a:t>-  Open exercises/uc3-skills-directives/STATUS.mock.txt. It starts with JOB_STATE=RUNNING and a note that you may edit the state.</a:t>
            </a:r>
          </a:p>
          <a:p>
            <a:pPr algn="l">
              <a:spcAft>
                <a:spcPts val="800"/>
              </a:spcAft>
            </a:pPr>
            <a:r>
              <a:rPr sz="1300" b="0">
                <a:solidFill>
                  <a:srgbClr val="0C1A2E"/>
                </a:solidFill>
                <a:latin typeface="Calibri"/>
              </a:rPr>
              <a:t>-  Ask Cursor to read that file on an interval, summarize JOB_STATE in one sentence, and stop when the state is DONE or FAILED, or after four ticks.</a:t>
            </a:r>
          </a:p>
          <a:p>
            <a:pPr algn="l">
              <a:spcAft>
                <a:spcPts val="800"/>
              </a:spcAft>
            </a:pPr>
            <a:r>
              <a:rPr sz="1300" b="0">
                <a:solidFill>
                  <a:srgbClr val="0C1A2E"/>
                </a:solidFill>
                <a:latin typeface="Calibri"/>
              </a:rPr>
              <a:t>-  After one or two ticks, edit the file yourself to JOB_STATE=DONE (or FAILED) so you see a clean stop. That edit is the whole point: you are the human who decides the loop is finished.</a:t>
            </a:r>
          </a:p>
          <a:p>
            <a:pPr algn="l">
              <a:spcAft>
                <a:spcPts val="800"/>
              </a:spcAft>
            </a:pPr>
            <a:r>
              <a:rPr sz="1300" b="0">
                <a:solidFill>
                  <a:srgbClr val="0C1A2E"/>
                </a:solidFill>
                <a:latin typeface="Calibri"/>
              </a:rPr>
              <a:t>-  Tick pattern: Tick 1 reports RUNNING and waits ~30s; Tick 2 still RUNNING unless you edited; you change the file; Tick 3 sees DONE/FAILED and stops, or hits the 4-tick cap.</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UC3 Skills and directives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UC3 Skills: short capped /loop</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Step 3 - Short capped /loop (copy into Cursor)</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300" b="0">
                <a:solidFill>
                  <a:srgbClr val="0C1A2E"/>
                </a:solidFill>
                <a:latin typeface="Calibri"/>
              </a:rPr>
              <a:t>/loop 30s Read exercises/uc3-skills-directives/STATUS.mock.txt and summarize JOB_STATE in one sentence. Stop when JOB_STATE is DONE or FAILED, or after 4 ticks, whichever comes first.</a:t>
            </a:r>
          </a:p>
        </p:txBody>
      </p:sp>
      <p:sp>
        <p:nvSpPr>
          <p:cNvPr id="12" name="TextBox 11"/>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After 1-2 ticks, edit STATUS.mock.txt to JOB_STATE=DONE yourself. Stop rules: stop on DONE/FAILED, stop at max ticks even if still RUNNING, stop if the loop is not helping, never leave a loop running while you start Multitask or a second expensive chat.</a:t>
            </a:r>
          </a:p>
        </p:txBody>
      </p:sp>
      <p:sp>
        <p:nvSpPr>
          <p:cNvPr id="13" name="TextBox 12"/>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UC3 Skills, /goal, and /loop: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The skill produced a reviewable script with placeholders.</a:t>
            </a:r>
          </a:p>
          <a:p>
            <a:pPr algn="l">
              <a:spcAft>
                <a:spcPts val="800"/>
              </a:spcAft>
            </a:pPr>
            <a:r>
              <a:rPr sz="1500" b="0">
                <a:solidFill>
                  <a:srgbClr val="0C1A2E"/>
                </a:solidFill>
                <a:latin typeface="Calibri"/>
              </a:rPr>
              <a:t>-  The goal statement stayed visible and useful across steps.</a:t>
            </a:r>
          </a:p>
          <a:p>
            <a:pPr algn="l">
              <a:spcAft>
                <a:spcPts val="800"/>
              </a:spcAft>
            </a:pPr>
            <a:r>
              <a:rPr sz="1500" b="0">
                <a:solidFill>
                  <a:srgbClr val="0C1A2E"/>
                </a:solidFill>
                <a:latin typeface="Calibri"/>
              </a:rPr>
              <a:t>-  The loop stopped on purpose (DONE/FAILED or tick cap), not by abandonment.</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UC4</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UC4 Paper method replication</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Extract the method, plan functions, implement, then diff against Algorithm 1.</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UC4 Paper method replication: when you need this</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UC4 Paper method replication is for the common research need: a short methods brief (or paper supplement) must become runnable code with honest fidelity notes. You work in exercises/uc4-paper-replication using the workshop measurements CSV from the analysis exercise.</a:t>
            </a:r>
          </a:p>
        </p:txBody>
      </p:sp>
      <p:sp>
        <p:nvSpPr>
          <p:cNvPr id="10" name="TextBox 9"/>
          <p:cNvSpPr txBox="1"/>
          <p:nvPr/>
        </p:nvSpPr>
        <p:spPr>
          <a:xfrm>
            <a:off x="502920" y="2468880"/>
            <a:ext cx="6583680" cy="3904488"/>
          </a:xfrm>
          <a:prstGeom prst="rect">
            <a:avLst/>
          </a:prstGeom>
          <a:noFill/>
        </p:spPr>
        <p:txBody>
          <a:bodyPr wrap="square">
            <a:spAutoFit/>
          </a:bodyPr>
          <a:lstStyle/>
          <a:p>
            <a:pPr algn="l">
              <a:spcAft>
                <a:spcPts val="800"/>
              </a:spcAft>
            </a:pPr>
            <a:r>
              <a:rPr sz="1300" b="0">
                <a:solidFill>
                  <a:srgbClr val="0C1A2E"/>
                </a:solidFill>
                <a:latin typeface="Calibri"/>
              </a:rPr>
              <a:t>-  Ask extracts the research question, Algorithm 1 steps, defaults, and acceptance checks before anyone writes code.</a:t>
            </a:r>
          </a:p>
          <a:p>
            <a:pPr algn="l">
              <a:spcAft>
                <a:spcPts val="800"/>
              </a:spcAft>
            </a:pPr>
            <a:r>
              <a:rPr sz="1300" b="0">
                <a:solidFill>
                  <a:srgbClr val="0C1A2E"/>
                </a:solidFill>
                <a:latin typeface="Calibri"/>
              </a:rPr>
              <a:t>-  Plan names functions and seed handling. Agent implements. Ask again diffs the implementation line by line against Algorithm 1.</a:t>
            </a:r>
          </a:p>
          <a:p>
            <a:pPr algn="l">
              <a:spcAft>
                <a:spcPts val="800"/>
              </a:spcAft>
            </a:pPr>
            <a:r>
              <a:rPr sz="1300" b="0">
                <a:solidFill>
                  <a:srgbClr val="0C1A2E"/>
                </a:solidFill>
                <a:latin typeface="Calibri"/>
              </a:rPr>
              <a:t>-  Approximations belong in REPLICATION_NOTES.md, not in silent shortcuts. You will produce replicate.py, printed mean difference and bootstrap CI with seed 7, and short fidelity notes.</a:t>
            </a:r>
          </a:p>
        </p:txBody>
      </p:sp>
      <p:pic>
        <p:nvPicPr>
          <p:cNvPr id="11" name="Picture 10" descr="paper-replication.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UC4 Paper replication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UC4 Paper replication: extract, plan, implement, verify</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Step 1 - Ask extracts the method</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100" b="0">
                <a:solidFill>
                  <a:srgbClr val="0C1A2E"/>
                </a:solidFill>
                <a:latin typeface="Calibri"/>
              </a:rPr>
              <a:t>Ask mode: Read PAPER_BRIEF.md. Extract the research question, Algorithm 1 steps, defaults, and acceptance checks as a bullet list I can implement against. Do not write code yet.</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Step 2 - Plan the implementation</a:t>
            </a:r>
          </a:p>
        </p:txBody>
      </p:sp>
      <p:sp>
        <p:nvSpPr>
          <p:cNvPr id="13" name="Rectangle 12"/>
          <p:cNvSpPr/>
          <p:nvPr/>
        </p:nvSpPr>
        <p:spPr>
          <a:xfrm>
            <a:off x="502920" y="2596896"/>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996696"/>
          </a:xfrm>
          <a:prstGeom prst="rect">
            <a:avLst/>
          </a:prstGeom>
          <a:noFill/>
        </p:spPr>
        <p:txBody>
          <a:bodyPr wrap="square">
            <a:spAutoFit/>
          </a:bodyPr>
          <a:lstStyle/>
          <a:p>
            <a:pPr algn="l"/>
            <a:r>
              <a:rPr sz="1100" b="0">
                <a:solidFill>
                  <a:srgbClr val="0C1A2E"/>
                </a:solidFill>
                <a:latin typeface="Calibri"/>
              </a:rPr>
              <a:t>Plan mode: Propose a Python implementation plan for Algorithm 1 that satisfies the acceptance checks, including random seed handling and how you will exclude empty values. Name the functions you will create.</a:t>
            </a:r>
          </a:p>
        </p:txBody>
      </p:sp>
      <p:sp>
        <p:nvSpPr>
          <p:cNvPr id="15" name="TextBox 14"/>
          <p:cNvSpPr txBox="1"/>
          <p:nvPr/>
        </p:nvSpPr>
        <p:spPr>
          <a:xfrm>
            <a:off x="502920" y="3794760"/>
            <a:ext cx="11064240" cy="256032"/>
          </a:xfrm>
          <a:prstGeom prst="rect">
            <a:avLst/>
          </a:prstGeom>
          <a:noFill/>
        </p:spPr>
        <p:txBody>
          <a:bodyPr wrap="square">
            <a:spAutoFit/>
          </a:bodyPr>
          <a:lstStyle/>
          <a:p>
            <a:pPr algn="l"/>
            <a:r>
              <a:rPr sz="1100" b="1">
                <a:solidFill>
                  <a:srgbClr val="B90E31"/>
                </a:solidFill>
                <a:latin typeface="Calibri"/>
              </a:rPr>
              <a:t>Steps 3-4 - Agent implements, then Ask verifies</a:t>
            </a:r>
          </a:p>
        </p:txBody>
      </p:sp>
      <p:sp>
        <p:nvSpPr>
          <p:cNvPr id="16" name="Rectangle 15"/>
          <p:cNvSpPr/>
          <p:nvPr/>
        </p:nvSpPr>
        <p:spPr>
          <a:xfrm>
            <a:off x="502920" y="4050792"/>
            <a:ext cx="11064240" cy="1344168"/>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105656"/>
            <a:ext cx="10835640" cy="1252728"/>
          </a:xfrm>
          <a:prstGeom prst="rect">
            <a:avLst/>
          </a:prstGeom>
          <a:noFill/>
        </p:spPr>
        <p:txBody>
          <a:bodyPr wrap="square">
            <a:spAutoFit/>
          </a:bodyPr>
          <a:lstStyle/>
          <a:p>
            <a:pPr algn="l"/>
            <a:r>
              <a:rPr sz="1100" b="0">
                <a:solidFill>
                  <a:srgbClr val="0C1A2E"/>
                </a:solidFill>
                <a:latin typeface="Calibri"/>
              </a:rPr>
              <a:t>Agent: Implement replicate.py from replicate_starter.py against PAPER_BRIEF.md and the measurements CSV. Print observed mean difference and 95% bootstrap CI. Use seed=7. Add a short REPLICATION_NOTES.md stating fidelity limits. Then Ask: Diff your implementation against Algorithm 1 line by line. Call out any step that is missing or approximated.</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Open: exercises/uc4-paper-replication - Data: ../uc2-analysis/data/measurements.csv</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UC4 Paper method replication: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Acceptance checks 1-4 in PAPER_BRIEF.md pass, or are honestly marked incomplete.</a:t>
            </a:r>
          </a:p>
          <a:p>
            <a:pPr algn="l">
              <a:spcAft>
                <a:spcPts val="800"/>
              </a:spcAft>
            </a:pPr>
            <a:r>
              <a:rPr sz="1500" b="0">
                <a:solidFill>
                  <a:srgbClr val="0C1A2E"/>
                </a:solidFill>
                <a:latin typeface="Calibri"/>
              </a:rPr>
              <a:t>-  REPLICATION_NOTES.md states fidelity limits in plain language.</a:t>
            </a:r>
          </a:p>
          <a:p>
            <a:pPr algn="l">
              <a:spcAft>
                <a:spcPts val="800"/>
              </a:spcAft>
            </a:pPr>
            <a:r>
              <a:rPr sz="1500" b="0">
                <a:solidFill>
                  <a:srgbClr val="0C1A2E"/>
                </a:solidFill>
                <a:latin typeface="Calibri"/>
              </a:rPr>
              <a:t>-  Seed 7 is used and the CI printout matches what you asked for.</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UC5</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UC5 CAC remote work, SLURM jobs, and debugging</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SSH when available, checklist-driven drafts, logs that tell the truth.</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UC5 CAC remote work, SLURM jobs, and debugging: when you need this</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UC5 CAC remote work, SLURM jobs, and debugging is the bridge from laptop scripts to CAC. If SSH is available you may connect and keep work under a demo directory; if not, you stay local and treat drafts as dry-runs. Either path is legitimate workshop success.</a:t>
            </a:r>
          </a:p>
        </p:txBody>
      </p:sp>
      <p:sp>
        <p:nvSpPr>
          <p:cNvPr id="10" name="TextBox 9"/>
          <p:cNvSpPr txBox="1"/>
          <p:nvPr/>
        </p:nvSpPr>
        <p:spPr>
          <a:xfrm>
            <a:off x="502920" y="2468880"/>
            <a:ext cx="6583680" cy="3904488"/>
          </a:xfrm>
          <a:prstGeom prst="rect">
            <a:avLst/>
          </a:prstGeom>
          <a:noFill/>
        </p:spPr>
        <p:txBody>
          <a:bodyPr wrap="square">
            <a:spAutoFit/>
          </a:bodyPr>
          <a:lstStyle/>
          <a:p>
            <a:pPr algn="l">
              <a:spcAft>
                <a:spcPts val="800"/>
              </a:spcAft>
            </a:pPr>
            <a:r>
              <a:rPr sz="1300" b="0">
                <a:solidFill>
                  <a:srgbClr val="0C1A2E"/>
                </a:solidFill>
                <a:latin typeface="Calibri"/>
              </a:rPr>
              <a:t>-  Heavy compute does not belong on the login node. Editing, git, and light checks are fine; analysis and training belong in jobs on compute nodes through SLURM.</a:t>
            </a:r>
          </a:p>
          <a:p>
            <a:pPr algn="l">
              <a:spcAft>
                <a:spcPts val="800"/>
              </a:spcAft>
            </a:pPr>
            <a:r>
              <a:rPr sz="1300" b="0">
                <a:solidFill>
                  <a:srgbClr val="0C1A2E"/>
                </a:solidFill>
                <a:latin typeface="Calibri"/>
              </a:rPr>
              <a:t>-  Never invent CAC account names, partitions, or module versions. Use YOUR_ACCOUNT / YOUR_PARTITION placeholders and SLURM_CHECKLIST.md.</a:t>
            </a:r>
          </a:p>
          <a:p>
            <a:pPr algn="l">
              <a:spcAft>
                <a:spcPts val="800"/>
              </a:spcAft>
            </a:pPr>
            <a:r>
              <a:rPr sz="1300" b="0">
                <a:solidFill>
                  <a:srgbClr val="0C1A2E"/>
                </a:solidFill>
                <a:latin typeface="Calibri"/>
              </a:rPr>
              <a:t>-  Under exercises/uc5-cac-slurm you will generate a script with placeholders, diagnose paired logs from a broken job, and write a fixed script.</a:t>
            </a:r>
          </a:p>
        </p:txBody>
      </p:sp>
      <p:pic>
        <p:nvPicPr>
          <p:cNvPr id="11" name="Picture 10" descr="ssh-slurm.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UC5 CAC + SLURM - concept</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Checklist-driven drafts beat folklore</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A good sbatch script states time, cpus, mem, output and error logs, and an explicit working directory.</a:t>
            </a:r>
          </a:p>
          <a:p>
            <a:pPr algn="l">
              <a:spcAft>
                <a:spcPts val="800"/>
              </a:spcAft>
            </a:pPr>
            <a:r>
              <a:rPr sz="1500" b="0">
                <a:solidFill>
                  <a:srgbClr val="0C1A2E"/>
                </a:solidFill>
                <a:latin typeface="Calibri"/>
              </a:rPr>
              <a:t>-  The workshop template and SLURM_CHECKLIST.md exist so the agent (and you) stop relying on half-remembered flags from a different cluster.</a:t>
            </a:r>
          </a:p>
          <a:p>
            <a:pPr algn="l">
              <a:spcAft>
                <a:spcPts val="800"/>
              </a:spcAft>
            </a:pPr>
            <a:r>
              <a:rPr sz="1500" b="0">
                <a:solidFill>
                  <a:srgbClr val="0C1A2E"/>
                </a:solidFill>
                <a:latin typeface="Calibri"/>
              </a:rPr>
              <a:t>-  When logs disagree with the script, diagnose both stdout and stderr together with the broken script before you fix anything.</a:t>
            </a:r>
          </a:p>
          <a:p>
            <a:pPr algn="l">
              <a:spcAft>
                <a:spcPts val="800"/>
              </a:spcAft>
            </a:pPr>
            <a:r>
              <a:rPr sz="1500" b="0">
                <a:solidFill>
                  <a:srgbClr val="0C1A2E"/>
                </a:solidFill>
                <a:latin typeface="Calibri"/>
              </a:rPr>
              <a:t>-  Ranking failures beats guessing the first line that looks angry. If you cannot submit today, a reviewed dry-run still counts.</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UC5 CAC + SLURM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UC5 CAC + SLURM: Parts A and B</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Part A - Remote project (when connected to CAC)</a:t>
            </a:r>
          </a:p>
        </p:txBody>
      </p:sp>
      <p:sp>
        <p:nvSpPr>
          <p:cNvPr id="10" name="Rectangle 9"/>
          <p:cNvSpPr/>
          <p:nvPr/>
        </p:nvSpPr>
        <p:spPr>
          <a:xfrm>
            <a:off x="502920" y="1399032"/>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996696"/>
          </a:xfrm>
          <a:prstGeom prst="rect">
            <a:avLst/>
          </a:prstGeom>
          <a:noFill/>
        </p:spPr>
        <p:txBody>
          <a:bodyPr wrap="square">
            <a:spAutoFit/>
          </a:bodyPr>
          <a:lstStyle/>
          <a:p>
            <a:pPr algn="l"/>
            <a:r>
              <a:rPr sz="1100" b="0">
                <a:solidFill>
                  <a:srgbClr val="0C1A2E"/>
                </a:solidFill>
                <a:latin typeface="Calibri"/>
              </a:rPr>
              <a:t>We are connected to CAC over SSH. Confirm the current workspace path, create a directory ~/cursor-workshop-demo if missing, and sync only the uc5-cac-slurm exercise files there if appropriate. Summarize login-node vs compute-node rules in three bullets.</a:t>
            </a:r>
          </a:p>
        </p:txBody>
      </p:sp>
      <p:sp>
        <p:nvSpPr>
          <p:cNvPr id="12" name="TextBox 11"/>
          <p:cNvSpPr txBox="1"/>
          <p:nvPr/>
        </p:nvSpPr>
        <p:spPr>
          <a:xfrm>
            <a:off x="502920" y="2596896"/>
            <a:ext cx="11064240" cy="256032"/>
          </a:xfrm>
          <a:prstGeom prst="rect">
            <a:avLst/>
          </a:prstGeom>
          <a:noFill/>
        </p:spPr>
        <p:txBody>
          <a:bodyPr wrap="square">
            <a:spAutoFit/>
          </a:bodyPr>
          <a:lstStyle/>
          <a:p>
            <a:pPr algn="l"/>
            <a:r>
              <a:rPr sz="1100" b="1">
                <a:solidFill>
                  <a:srgbClr val="B90E31"/>
                </a:solidFill>
                <a:latin typeface="Calibri"/>
              </a:rPr>
              <a:t>Part B - Plan what must change</a:t>
            </a:r>
          </a:p>
        </p:txBody>
      </p:sp>
      <p:sp>
        <p:nvSpPr>
          <p:cNvPr id="13" name="Rectangle 12"/>
          <p:cNvSpPr/>
          <p:nvPr/>
        </p:nvSpPr>
        <p:spPr>
          <a:xfrm>
            <a:off x="502920" y="2852928"/>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907792"/>
            <a:ext cx="10835640" cy="740664"/>
          </a:xfrm>
          <a:prstGeom prst="rect">
            <a:avLst/>
          </a:prstGeom>
          <a:noFill/>
        </p:spPr>
        <p:txBody>
          <a:bodyPr wrap="square">
            <a:spAutoFit/>
          </a:bodyPr>
          <a:lstStyle/>
          <a:p>
            <a:pPr algn="l"/>
            <a:r>
              <a:rPr sz="1100" b="0">
                <a:solidFill>
                  <a:srgbClr val="0C1A2E"/>
                </a:solidFill>
                <a:latin typeface="Calibri"/>
              </a:rPr>
              <a:t>Plan mode: Using exercises/uc5-cac-slurm/scripts/job.template.sh and SLURM_CHECKLIST.md, list what must change before a real submit on CAC.</a:t>
            </a:r>
          </a:p>
        </p:txBody>
      </p:sp>
      <p:sp>
        <p:nvSpPr>
          <p:cNvPr id="15" name="TextBox 14"/>
          <p:cNvSpPr txBox="1"/>
          <p:nvPr/>
        </p:nvSpPr>
        <p:spPr>
          <a:xfrm>
            <a:off x="502920" y="3794760"/>
            <a:ext cx="11064240" cy="256032"/>
          </a:xfrm>
          <a:prstGeom prst="rect">
            <a:avLst/>
          </a:prstGeom>
          <a:noFill/>
        </p:spPr>
        <p:txBody>
          <a:bodyPr wrap="square">
            <a:spAutoFit/>
          </a:bodyPr>
          <a:lstStyle/>
          <a:p>
            <a:pPr algn="l"/>
            <a:r>
              <a:rPr sz="1100" b="1">
                <a:solidFill>
                  <a:srgbClr val="B90E31"/>
                </a:solidFill>
                <a:latin typeface="Calibri"/>
              </a:rPr>
              <a:t>Part B - Agent drafts job.generated.sh</a:t>
            </a:r>
          </a:p>
        </p:txBody>
      </p:sp>
      <p:sp>
        <p:nvSpPr>
          <p:cNvPr id="16" name="Rectangle 15"/>
          <p:cNvSpPr/>
          <p:nvPr/>
        </p:nvSpPr>
        <p:spPr>
          <a:xfrm>
            <a:off x="502920" y="405079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105656"/>
            <a:ext cx="10835640" cy="740664"/>
          </a:xfrm>
          <a:prstGeom prst="rect">
            <a:avLst/>
          </a:prstGeom>
          <a:noFill/>
        </p:spPr>
        <p:txBody>
          <a:bodyPr wrap="square">
            <a:spAutoFit/>
          </a:bodyPr>
          <a:lstStyle/>
          <a:p>
            <a:pPr algn="l"/>
            <a:r>
              <a:rPr sz="1100" b="0">
                <a:solidFill>
                  <a:srgbClr val="0C1A2E"/>
                </a:solidFill>
                <a:latin typeface="Calibri"/>
              </a:rPr>
              <a:t>Agent mode: Create scripts/job.generated.sh from the template for analyze_job.py. Keep YOUR_ACCOUNT and YOUR_PARTITION placeholders. Fix the data path assumption in comments.</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If SSH is unavailable, stay local and treat Parts B and C as dry-run.</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UC5 CAC + SLURM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UC5 CAC + SLURM: Part C debug from logs</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Part C - Diagnose the broken job (Ask)</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200" b="0">
                <a:solidFill>
                  <a:srgbClr val="0C1A2E"/>
                </a:solidFill>
                <a:latin typeface="Calibri"/>
              </a:rPr>
              <a:t>Ask mode: Diagnose exercises/uc5-cac-slurm/logs/slurm-4242.out and slurm-4242.err together with scripts/job.broken.sh. Rank the failures. Propose a minimal fixed script.</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Part C - Write the fixed script (Agent)</a:t>
            </a:r>
          </a:p>
        </p:txBody>
      </p:sp>
      <p:sp>
        <p:nvSpPr>
          <p:cNvPr id="13" name="Rectangle 12"/>
          <p:cNvSpPr/>
          <p:nvPr/>
        </p:nvSpPr>
        <p:spPr>
          <a:xfrm>
            <a:off x="502920" y="2596896"/>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740664"/>
          </a:xfrm>
          <a:prstGeom prst="rect">
            <a:avLst/>
          </a:prstGeom>
          <a:noFill/>
        </p:spPr>
        <p:txBody>
          <a:bodyPr wrap="square">
            <a:spAutoFit/>
          </a:bodyPr>
          <a:lstStyle/>
          <a:p>
            <a:pPr algn="l"/>
            <a:r>
              <a:rPr sz="1200" b="0">
                <a:solidFill>
                  <a:srgbClr val="0C1A2E"/>
                </a:solidFill>
                <a:latin typeface="Calibri"/>
              </a:rPr>
              <a:t>Agent mode: Write scripts/job.fixed.sh that addresses the module, path, and data issues without inventing a real CAC account.</a:t>
            </a:r>
          </a:p>
        </p:txBody>
      </p:sp>
      <p:sp>
        <p:nvSpPr>
          <p:cNvPr id="15" name="TextBox 14"/>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Done when: you reviewed SLURM_CHECKLIST.md, can explain the broken job in plain language, and job.fixed.sh exists. Submit is optional.</a:t>
            </a:r>
          </a:p>
        </p:txBody>
      </p:sp>
      <p:sp>
        <p:nvSpPr>
          <p:cNvPr id="16" name="TextBox 15"/>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Pause</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Break (5 minutes)</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Almost done. Multi-agent handoffs next, then a careful GitHub MCP demo.</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If your job.fixed.sh still looks haunted, bring it to the wrap-up.</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UC6</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UC6 Multi-agent orchestration</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Explorer, Implementer, Reviewer, with you as the gate.</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UC6 Multi-agent orchestration: when you need this</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UC6 Multi-agent orchestration is for work that benefits from separated roles: one read-only map of the tree, one implementer with a narrow write scope, one reviewer against a checklist. Follow exercises/uc6-multi-agent/ORCHESTRATION.md.</a:t>
            </a:r>
          </a:p>
        </p:txBody>
      </p:sp>
      <p:sp>
        <p:nvSpPr>
          <p:cNvPr id="10" name="TextBox 9"/>
          <p:cNvSpPr txBox="1"/>
          <p:nvPr/>
        </p:nvSpPr>
        <p:spPr>
          <a:xfrm>
            <a:off x="502920" y="2468880"/>
            <a:ext cx="6583680" cy="3904488"/>
          </a:xfrm>
          <a:prstGeom prst="rect">
            <a:avLst/>
          </a:prstGeom>
          <a:noFill/>
        </p:spPr>
        <p:txBody>
          <a:bodyPr wrap="square">
            <a:spAutoFit/>
          </a:bodyPr>
          <a:lstStyle/>
          <a:p>
            <a:pPr algn="l">
              <a:spcAft>
                <a:spcPts val="800"/>
              </a:spcAft>
            </a:pPr>
            <a:r>
              <a:rPr sz="1300" b="0">
                <a:solidFill>
                  <a:srgbClr val="0C1A2E"/>
                </a:solidFill>
                <a:latin typeface="Calibri"/>
              </a:rPr>
              <a:t>-  Parallel agents are useful when paths are disjoint. Two agents editing the same file is how you get a merge conflict dressed up as productivity.</a:t>
            </a:r>
          </a:p>
          <a:p>
            <a:pPr algn="l">
              <a:spcAft>
                <a:spcPts val="800"/>
              </a:spcAft>
            </a:pPr>
            <a:r>
              <a:rPr sz="1300" b="0">
                <a:solidFill>
                  <a:srgbClr val="0C1A2E"/>
                </a:solidFill>
                <a:latin typeface="Calibri"/>
              </a:rPr>
              <a:t>-  Optional Multitask is only worth the budget when Explorer reads while Implementer writes elsewhere, then you merge judgment manually.</a:t>
            </a:r>
          </a:p>
          <a:p>
            <a:pPr algn="l">
              <a:spcAft>
                <a:spcPts val="800"/>
              </a:spcAft>
            </a:pPr>
            <a:r>
              <a:rPr sz="1300" b="0">
                <a:solidFill>
                  <a:srgbClr val="0C1A2E"/>
                </a:solidFill>
                <a:latin typeface="Calibri"/>
              </a:rPr>
              <a:t>-  You will produce Explorer bullets, a generated sbatch under the uc5 scripts folder, and a pass/fail review. No sbatch submit is required. You remain the human gate: accept, request revisions, or stop.</a:t>
            </a:r>
          </a:p>
        </p:txBody>
      </p:sp>
      <p:pic>
        <p:nvPicPr>
          <p:cNvPr id="11" name="Picture 10" descr="multi-agent.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UC6 Multi-agent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UC6 Multi-agent: Explorer, Implementer, Reviewer</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Agent 1 - Explorer (Ask, read-only)</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100" b="0">
                <a:solidFill>
                  <a:srgbClr val="0C1A2E"/>
                </a:solidFill>
                <a:latin typeface="Calibri"/>
              </a:rPr>
              <a:t>Ask mode / Explorer role: Map exercises/uc5-cac-slurm for a teammate who will write an sbatch script. Max 10 bullets: key files, risks, and what not to invent.</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Agent 2 - Implementer (Plan then Agent)</a:t>
            </a:r>
          </a:p>
        </p:txBody>
      </p:sp>
      <p:sp>
        <p:nvSpPr>
          <p:cNvPr id="13" name="Rectangle 12"/>
          <p:cNvSpPr/>
          <p:nvPr/>
        </p:nvSpPr>
        <p:spPr>
          <a:xfrm>
            <a:off x="502920" y="2596896"/>
            <a:ext cx="11064240" cy="1088136"/>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996696"/>
          </a:xfrm>
          <a:prstGeom prst="rect">
            <a:avLst/>
          </a:prstGeom>
          <a:noFill/>
        </p:spPr>
        <p:txBody>
          <a:bodyPr wrap="square">
            <a:spAutoFit/>
          </a:bodyPr>
          <a:lstStyle/>
          <a:p>
            <a:pPr algn="l"/>
            <a:r>
              <a:rPr sz="1100" b="0">
                <a:solidFill>
                  <a:srgbClr val="0C1A2E"/>
                </a:solidFill>
                <a:latin typeface="Calibri"/>
              </a:rPr>
              <a:t>Implementer role: Create exercises/uc5-cac-slurm/scripts/job.generated.sh for analyze_job.py. Edit only under exercises/uc5-cac-slurm/scripts/. Assumptions as comments. Dry-run only. Paste the Explorer bullets first so Implementer inherits the map.</a:t>
            </a:r>
          </a:p>
        </p:txBody>
      </p:sp>
      <p:sp>
        <p:nvSpPr>
          <p:cNvPr id="15" name="TextBox 14"/>
          <p:cNvSpPr txBox="1"/>
          <p:nvPr/>
        </p:nvSpPr>
        <p:spPr>
          <a:xfrm>
            <a:off x="502920" y="3794760"/>
            <a:ext cx="11064240" cy="256032"/>
          </a:xfrm>
          <a:prstGeom prst="rect">
            <a:avLst/>
          </a:prstGeom>
          <a:noFill/>
        </p:spPr>
        <p:txBody>
          <a:bodyPr wrap="square">
            <a:spAutoFit/>
          </a:bodyPr>
          <a:lstStyle/>
          <a:p>
            <a:pPr algn="l"/>
            <a:r>
              <a:rPr sz="1100" b="1">
                <a:solidFill>
                  <a:srgbClr val="B90E31"/>
                </a:solidFill>
                <a:latin typeface="Calibri"/>
              </a:rPr>
              <a:t>Agent 3 - Reviewer (Ask)</a:t>
            </a:r>
          </a:p>
        </p:txBody>
      </p:sp>
      <p:sp>
        <p:nvSpPr>
          <p:cNvPr id="16" name="Rectangle 15"/>
          <p:cNvSpPr/>
          <p:nvPr/>
        </p:nvSpPr>
        <p:spPr>
          <a:xfrm>
            <a:off x="502920" y="405079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4105656"/>
            <a:ext cx="10835640" cy="740664"/>
          </a:xfrm>
          <a:prstGeom prst="rect">
            <a:avLst/>
          </a:prstGeom>
          <a:noFill/>
        </p:spPr>
        <p:txBody>
          <a:bodyPr wrap="square">
            <a:spAutoFit/>
          </a:bodyPr>
          <a:lstStyle/>
          <a:p>
            <a:pPr algn="l"/>
            <a:r>
              <a:rPr sz="1100" b="0">
                <a:solidFill>
                  <a:srgbClr val="0C1A2E"/>
                </a:solidFill>
                <a:latin typeface="Calibri"/>
              </a:rPr>
              <a:t>Ask mode / Reviewer role: Grade scripts/job.generated.sh against SLURM_CHECKLIST.md. Pass/fail per item. Do not edit files.</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Human gate: accept, revise, or stop. Multitask last, and only when write scopes are truly disjoint.</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Done when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UC6 Multi-agent orchestration: done when</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Explorer map exists (max 10 bullets).</a:t>
            </a:r>
          </a:p>
          <a:p>
            <a:pPr algn="l">
              <a:spcAft>
                <a:spcPts val="800"/>
              </a:spcAft>
            </a:pPr>
            <a:r>
              <a:rPr sz="1500" b="0">
                <a:solidFill>
                  <a:srgbClr val="0C1A2E"/>
                </a:solidFill>
                <a:latin typeface="Calibri"/>
              </a:rPr>
              <a:t>-  Implementer wrote only under the allowed scripts path.</a:t>
            </a:r>
          </a:p>
          <a:p>
            <a:pPr algn="l">
              <a:spcAft>
                <a:spcPts val="800"/>
              </a:spcAft>
            </a:pPr>
            <a:r>
              <a:rPr sz="1500" b="0">
                <a:solidFill>
                  <a:srgbClr val="0C1A2E"/>
                </a:solidFill>
                <a:latin typeface="Calibri"/>
              </a:rPr>
              <a:t>-  Reviewer produced pass/fail against SLURM_CHECKLIST.md.</a:t>
            </a:r>
          </a:p>
          <a:p>
            <a:pPr algn="l">
              <a:spcAft>
                <a:spcPts val="800"/>
              </a:spcAft>
            </a:pPr>
            <a:r>
              <a:rPr sz="1500" b="0">
                <a:solidFill>
                  <a:srgbClr val="0C1A2E"/>
                </a:solidFill>
                <a:latin typeface="Calibri"/>
              </a:rPr>
              <a:t>-  You made an explicit accept / revise / stop decision.</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28800"/>
            <a:ext cx="10515600" cy="411480"/>
          </a:xfrm>
          <a:prstGeom prst="rect">
            <a:avLst/>
          </a:prstGeom>
          <a:noFill/>
        </p:spPr>
        <p:txBody>
          <a:bodyPr wrap="square">
            <a:spAutoFit/>
          </a:bodyPr>
          <a:lstStyle/>
          <a:p>
            <a:pPr algn="l"/>
            <a:r>
              <a:rPr sz="1800" b="1">
                <a:solidFill>
                  <a:srgbClr val="FABD0F"/>
                </a:solidFill>
                <a:latin typeface="Calibri"/>
              </a:rPr>
              <a:t>UC7</a:t>
            </a:r>
          </a:p>
        </p:txBody>
      </p:sp>
      <p:sp>
        <p:nvSpPr>
          <p:cNvPr id="10" name="TextBox 9"/>
          <p:cNvSpPr txBox="1"/>
          <p:nvPr/>
        </p:nvSpPr>
        <p:spPr>
          <a:xfrm>
            <a:off x="731520" y="2331720"/>
            <a:ext cx="10515600" cy="1645920"/>
          </a:xfrm>
          <a:prstGeom prst="rect">
            <a:avLst/>
          </a:prstGeom>
          <a:noFill/>
        </p:spPr>
        <p:txBody>
          <a:bodyPr wrap="square">
            <a:spAutoFit/>
          </a:bodyPr>
          <a:lstStyle/>
          <a:p>
            <a:pPr algn="l"/>
            <a:r>
              <a:rPr sz="3000" b="1">
                <a:solidFill>
                  <a:srgbClr val="FFFFFF"/>
                </a:solidFill>
                <a:latin typeface="Calibri"/>
              </a:rPr>
              <a:t>UC7 GitHub MCP demo</a:t>
            </a:r>
          </a:p>
        </p:txBody>
      </p:sp>
      <p:sp>
        <p:nvSpPr>
          <p:cNvPr id="11" name="TextBox 10"/>
          <p:cNvSpPr txBox="1"/>
          <p:nvPr/>
        </p:nvSpPr>
        <p:spPr>
          <a:xfrm>
            <a:off x="731520" y="4206240"/>
            <a:ext cx="10515600" cy="1097280"/>
          </a:xfrm>
          <a:prstGeom prst="rect">
            <a:avLst/>
          </a:prstGeom>
          <a:noFill/>
        </p:spPr>
        <p:txBody>
          <a:bodyPr wrap="square">
            <a:spAutoFit/>
          </a:bodyPr>
          <a:lstStyle/>
          <a:p>
            <a:pPr algn="l"/>
            <a:r>
              <a:rPr sz="1600" b="0">
                <a:solidFill>
                  <a:srgbClr val="B8C4D4"/>
                </a:solidFill>
                <a:latin typeface="Calibri"/>
              </a:rPr>
              <a:t>Read with tools, draft writes, you click send.</a:t>
            </a:r>
          </a:p>
        </p:txBody>
      </p:sp>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What this use case is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UC7 GitHub MCP demo: when you need this</a:t>
            </a:r>
          </a:p>
        </p:txBody>
      </p:sp>
      <p:sp>
        <p:nvSpPr>
          <p:cNvPr id="9" name="TextBox 8"/>
          <p:cNvSpPr txBox="1"/>
          <p:nvPr/>
        </p:nvSpPr>
        <p:spPr>
          <a:xfrm>
            <a:off x="502920" y="1143000"/>
            <a:ext cx="6583680" cy="1234440"/>
          </a:xfrm>
          <a:prstGeom prst="rect">
            <a:avLst/>
          </a:prstGeom>
          <a:noFill/>
        </p:spPr>
        <p:txBody>
          <a:bodyPr wrap="square">
            <a:spAutoFit/>
          </a:bodyPr>
          <a:lstStyle/>
          <a:p>
            <a:pPr algn="l"/>
            <a:r>
              <a:rPr sz="1500" b="0">
                <a:solidFill>
                  <a:srgbClr val="0C1A2E"/>
                </a:solidFill>
                <a:latin typeface="Calibri"/>
              </a:rPr>
              <a:t>UC7 GitHub MCP demo shows how an agent talks to GitHub through MCP with minimal scopes. You use it when issue triage or README pointers should not require pasting personal access tokens into chat. Materials and notes live under exercises/uc7-github-mcp.</a:t>
            </a:r>
          </a:p>
        </p:txBody>
      </p:sp>
      <p:sp>
        <p:nvSpPr>
          <p:cNvPr id="10" name="TextBox 9"/>
          <p:cNvSpPr txBox="1"/>
          <p:nvPr/>
        </p:nvSpPr>
        <p:spPr>
          <a:xfrm>
            <a:off x="502920" y="2468880"/>
            <a:ext cx="6583680" cy="3904488"/>
          </a:xfrm>
          <a:prstGeom prst="rect">
            <a:avLst/>
          </a:prstGeom>
          <a:noFill/>
        </p:spPr>
        <p:txBody>
          <a:bodyPr wrap="square">
            <a:spAutoFit/>
          </a:bodyPr>
          <a:lstStyle/>
          <a:p>
            <a:pPr algn="l">
              <a:spcAft>
                <a:spcPts val="800"/>
              </a:spcAft>
            </a:pPr>
            <a:r>
              <a:rPr sz="1300" b="0">
                <a:solidFill>
                  <a:srgbClr val="0C1A2E"/>
                </a:solidFill>
                <a:latin typeface="Calibri"/>
              </a:rPr>
              <a:t>-  Connect GitHub MCP with minimal scopes before the demo prompts. Prefer read-only first.</a:t>
            </a:r>
          </a:p>
          <a:p>
            <a:pPr algn="l">
              <a:spcAft>
                <a:spcPts val="800"/>
              </a:spcAft>
            </a:pPr>
            <a:r>
              <a:rPr sz="1300" b="0">
                <a:solidFill>
                  <a:srgbClr val="0C1A2E"/>
                </a:solidFill>
                <a:latin typeface="Calibri"/>
              </a:rPr>
              <a:t>-  You will watch a read path (list open issues, summarize titles) and a write path that stops at a draft until you say to post.</a:t>
            </a:r>
          </a:p>
          <a:p>
            <a:pPr algn="l">
              <a:spcAft>
                <a:spcPts val="800"/>
              </a:spcAft>
            </a:pPr>
            <a:r>
              <a:rPr sz="1300" b="0">
                <a:solidFill>
                  <a:srgbClr val="0C1A2E"/>
                </a:solidFill>
                <a:latin typeface="Calibri"/>
              </a:rPr>
              <a:t>-  The safety discussion is part of the deliverable: what is risky on a shared lab repo, and what narrower alternative you would recommend for class use.</a:t>
            </a:r>
          </a:p>
        </p:txBody>
      </p:sp>
      <p:pic>
        <p:nvPicPr>
          <p:cNvPr id="11" name="Picture 10" descr="mcp-github.jpg"/>
          <p:cNvPicPr>
            <a:picLocks noChangeAspect="1"/>
          </p:cNvPicPr>
          <p:nvPr/>
        </p:nvPicPr>
        <p:blipFill>
          <a:blip r:embed="rId2"/>
          <a:stretch>
            <a:fillRect/>
          </a:stretch>
        </p:blipFill>
        <p:spPr>
          <a:xfrm>
            <a:off x="7452360" y="1234440"/>
            <a:ext cx="4206240" cy="2366010"/>
          </a:xfrm>
          <a:prstGeom prst="rect">
            <a:avLst/>
          </a:prstGeom>
        </p:spPr>
      </p:pic>
      <p:sp>
        <p:nvSpPr>
          <p:cNvPr id="12" name="TextBox 11"/>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UC7 GitHub MCP - hands-on</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400" b="1">
                <a:solidFill>
                  <a:srgbClr val="002452"/>
                </a:solidFill>
                <a:latin typeface="Calibri"/>
              </a:rPr>
              <a:t>UC7 GitHub MCP: read, draft, discuss risk</a:t>
            </a:r>
          </a:p>
        </p:txBody>
      </p:sp>
      <p:sp>
        <p:nvSpPr>
          <p:cNvPr id="9" name="TextBox 8"/>
          <p:cNvSpPr txBox="1"/>
          <p:nvPr/>
        </p:nvSpPr>
        <p:spPr>
          <a:xfrm>
            <a:off x="502920" y="1143000"/>
            <a:ext cx="11064240" cy="256032"/>
          </a:xfrm>
          <a:prstGeom prst="rect">
            <a:avLst/>
          </a:prstGeom>
          <a:noFill/>
        </p:spPr>
        <p:txBody>
          <a:bodyPr wrap="square">
            <a:spAutoFit/>
          </a:bodyPr>
          <a:lstStyle/>
          <a:p>
            <a:pPr algn="l"/>
            <a:r>
              <a:rPr sz="1100" b="1">
                <a:solidFill>
                  <a:srgbClr val="B90E31"/>
                </a:solidFill>
                <a:latin typeface="Calibri"/>
              </a:rPr>
              <a:t>Demo prompt 1 - read only</a:t>
            </a:r>
          </a:p>
        </p:txBody>
      </p:sp>
      <p:sp>
        <p:nvSpPr>
          <p:cNvPr id="10" name="Rectangle 9"/>
          <p:cNvSpPr/>
          <p:nvPr/>
        </p:nvSpPr>
        <p:spPr>
          <a:xfrm>
            <a:off x="502920" y="1399032"/>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453896"/>
            <a:ext cx="10835640" cy="740664"/>
          </a:xfrm>
          <a:prstGeom prst="rect">
            <a:avLst/>
          </a:prstGeom>
          <a:noFill/>
        </p:spPr>
        <p:txBody>
          <a:bodyPr wrap="square">
            <a:spAutoFit/>
          </a:bodyPr>
          <a:lstStyle/>
          <a:p>
            <a:pPr algn="l"/>
            <a:r>
              <a:rPr sz="1100" b="0">
                <a:solidFill>
                  <a:srgbClr val="0C1A2E"/>
                </a:solidFill>
                <a:latin typeface="Calibri"/>
              </a:rPr>
              <a:t>Using the GitHub MCP tools, list the open issues on &lt;ORG/REPO&gt; (your instructor will fill this). Summarize the top 3 by title only. Do not comment or close anything.</a:t>
            </a:r>
          </a:p>
        </p:txBody>
      </p:sp>
      <p:sp>
        <p:nvSpPr>
          <p:cNvPr id="12" name="TextBox 11"/>
          <p:cNvSpPr txBox="1"/>
          <p:nvPr/>
        </p:nvSpPr>
        <p:spPr>
          <a:xfrm>
            <a:off x="502920" y="2340864"/>
            <a:ext cx="11064240" cy="256032"/>
          </a:xfrm>
          <a:prstGeom prst="rect">
            <a:avLst/>
          </a:prstGeom>
          <a:noFill/>
        </p:spPr>
        <p:txBody>
          <a:bodyPr wrap="square">
            <a:spAutoFit/>
          </a:bodyPr>
          <a:lstStyle/>
          <a:p>
            <a:pPr algn="l"/>
            <a:r>
              <a:rPr sz="1100" b="1">
                <a:solidFill>
                  <a:srgbClr val="B90E31"/>
                </a:solidFill>
                <a:latin typeface="Calibri"/>
              </a:rPr>
              <a:t>Demo prompt 2 - draft, then wait</a:t>
            </a:r>
          </a:p>
        </p:txBody>
      </p:sp>
      <p:sp>
        <p:nvSpPr>
          <p:cNvPr id="13" name="Rectangle 12"/>
          <p:cNvSpPr/>
          <p:nvPr/>
        </p:nvSpPr>
        <p:spPr>
          <a:xfrm>
            <a:off x="502920" y="2596896"/>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651760"/>
            <a:ext cx="10835640" cy="740664"/>
          </a:xfrm>
          <a:prstGeom prst="rect">
            <a:avLst/>
          </a:prstGeom>
          <a:noFill/>
        </p:spPr>
        <p:txBody>
          <a:bodyPr wrap="square">
            <a:spAutoFit/>
          </a:bodyPr>
          <a:lstStyle/>
          <a:p>
            <a:pPr algn="l"/>
            <a:r>
              <a:rPr sz="1100" b="0">
                <a:solidFill>
                  <a:srgbClr val="0C1A2E"/>
                </a:solidFill>
                <a:latin typeface="Calibri"/>
              </a:rPr>
              <a:t>Draft a polite issue comment for issue #&lt;N&gt; that points newcomers to the workshop README section on SLURM dry-runs. Show me the comment text first. Do not post until I say "post it".</a:t>
            </a:r>
          </a:p>
        </p:txBody>
      </p:sp>
      <p:sp>
        <p:nvSpPr>
          <p:cNvPr id="15" name="TextBox 14"/>
          <p:cNvSpPr txBox="1"/>
          <p:nvPr/>
        </p:nvSpPr>
        <p:spPr>
          <a:xfrm>
            <a:off x="502920" y="3538728"/>
            <a:ext cx="11064240" cy="256032"/>
          </a:xfrm>
          <a:prstGeom prst="rect">
            <a:avLst/>
          </a:prstGeom>
          <a:noFill/>
        </p:spPr>
        <p:txBody>
          <a:bodyPr wrap="square">
            <a:spAutoFit/>
          </a:bodyPr>
          <a:lstStyle/>
          <a:p>
            <a:pPr algn="l"/>
            <a:r>
              <a:rPr sz="1100" b="1">
                <a:solidFill>
                  <a:srgbClr val="B90E31"/>
                </a:solidFill>
                <a:latin typeface="Calibri"/>
              </a:rPr>
              <a:t>Optional follow-up - risk discussion (Ask)</a:t>
            </a:r>
          </a:p>
        </p:txBody>
      </p:sp>
      <p:sp>
        <p:nvSpPr>
          <p:cNvPr id="16" name="Rectangle 15"/>
          <p:cNvSpPr/>
          <p:nvPr/>
        </p:nvSpPr>
        <p:spPr>
          <a:xfrm>
            <a:off x="502920" y="3794760"/>
            <a:ext cx="11064240" cy="832104"/>
          </a:xfrm>
          <a:prstGeom prst="rect">
            <a:avLst/>
          </a:prstGeom>
          <a:solidFill>
            <a:srgbClr val="E8EEF6"/>
          </a:solidFill>
          <a:ln w="9525">
            <a:solidFill>
              <a:srgbClr val="0024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648" y="3849624"/>
            <a:ext cx="10835640" cy="740664"/>
          </a:xfrm>
          <a:prstGeom prst="rect">
            <a:avLst/>
          </a:prstGeom>
          <a:noFill/>
        </p:spPr>
        <p:txBody>
          <a:bodyPr wrap="square">
            <a:spAutoFit/>
          </a:bodyPr>
          <a:lstStyle/>
          <a:p>
            <a:pPr algn="l"/>
            <a:r>
              <a:rPr sz="1100" b="0">
                <a:solidFill>
                  <a:srgbClr val="0C1A2E"/>
                </a:solidFill>
                <a:latin typeface="Calibri"/>
              </a:rPr>
              <a:t>Ask mode: What GitHub MCP actions are risky on a shared lab repo, and what narrower alternative would you recommend for class use?</a:t>
            </a:r>
          </a:p>
        </p:txBody>
      </p:sp>
      <p:sp>
        <p:nvSpPr>
          <p:cNvPr id="18" name="TextBox 17"/>
          <p:cNvSpPr txBox="1"/>
          <p:nvPr/>
        </p:nvSpPr>
        <p:spPr>
          <a:xfrm>
            <a:off x="502920" y="6099048"/>
            <a:ext cx="11064240" cy="320040"/>
          </a:xfrm>
          <a:prstGeom prst="rect">
            <a:avLst/>
          </a:prstGeom>
          <a:noFill/>
        </p:spPr>
        <p:txBody>
          <a:bodyPr wrap="square">
            <a:spAutoFit/>
          </a:bodyPr>
          <a:lstStyle/>
          <a:p>
            <a:pPr algn="l"/>
            <a:r>
              <a:rPr sz="1200" b="0">
                <a:solidFill>
                  <a:srgbClr val="5A6A7E"/>
                </a:solidFill>
                <a:latin typeface="Calibri"/>
              </a:rPr>
              <a:t>Done when: read path without writing; write path as draft-then-approve; short scope and safety discussion completed.</a:t>
            </a:r>
          </a:p>
        </p:txBody>
      </p:sp>
      <p:sp>
        <p:nvSpPr>
          <p:cNvPr id="19" name="TextBox 18"/>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Materials map</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Where to look after class</a:t>
            </a:r>
          </a:p>
        </p:txBody>
      </p:sp>
      <p:sp>
        <p:nvSpPr>
          <p:cNvPr id="9" name="TextBox 8"/>
          <p:cNvSpPr txBox="1"/>
          <p:nvPr/>
        </p:nvSpPr>
        <p:spPr>
          <a:xfrm>
            <a:off x="502920" y="1143000"/>
            <a:ext cx="11064240" cy="5230368"/>
          </a:xfrm>
          <a:prstGeom prst="rect">
            <a:avLst/>
          </a:prstGeom>
          <a:noFill/>
        </p:spPr>
        <p:txBody>
          <a:bodyPr wrap="square">
            <a:spAutoFit/>
          </a:bodyPr>
          <a:lstStyle/>
          <a:p>
            <a:pPr algn="l">
              <a:spcAft>
                <a:spcPts val="800"/>
              </a:spcAft>
            </a:pPr>
            <a:r>
              <a:rPr sz="1500" b="0">
                <a:solidFill>
                  <a:srgbClr val="0C1A2E"/>
                </a:solidFill>
                <a:latin typeface="Calibri"/>
              </a:rPr>
              <a:t>-  exercises/uc1-codebase-literacy through exercises/uc7-github-mcp</a:t>
            </a:r>
          </a:p>
          <a:p>
            <a:pPr algn="l">
              <a:spcAft>
                <a:spcPts val="800"/>
              </a:spcAft>
            </a:pPr>
            <a:r>
              <a:rPr sz="1500" b="0">
                <a:solidFill>
                  <a:srgbClr val="0C1A2E"/>
                </a:solidFill>
                <a:latin typeface="Calibri"/>
              </a:rPr>
              <a:t>-  config/.cursor for rules and skills templates</a:t>
            </a:r>
          </a:p>
          <a:p>
            <a:pPr algn="l">
              <a:spcAft>
                <a:spcPts val="800"/>
              </a:spcAft>
            </a:pPr>
            <a:r>
              <a:rPr sz="1500" b="0">
                <a:solidFill>
                  <a:srgbClr val="0C1A2E"/>
                </a:solidFill>
                <a:latin typeface="Calibri"/>
              </a:rPr>
              <a:t>-  handouts/budget-card.md and handouts/privacy-and-context.md</a:t>
            </a:r>
          </a:p>
          <a:p>
            <a:pPr algn="l">
              <a:spcAft>
                <a:spcPts val="800"/>
              </a:spcAft>
            </a:pPr>
            <a:r>
              <a:rPr sz="1500" b="0">
                <a:solidFill>
                  <a:srgbClr val="0C1A2E"/>
                </a:solidFill>
                <a:latin typeface="Calibri"/>
              </a:rPr>
              <a:t>-  This deck: presentations/cursor-cac-workshop.html and the PPTX beside it</a:t>
            </a:r>
          </a:p>
        </p:txBody>
      </p:sp>
      <p:sp>
        <p:nvSpPr>
          <p:cNvPr id="10" name="TextBox 9"/>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1440"/>
            <a:ext cx="64008" cy="6419088"/>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56032"/>
            <a:ext cx="11155680" cy="292608"/>
          </a:xfrm>
          <a:prstGeom prst="rect">
            <a:avLst/>
          </a:prstGeom>
          <a:noFill/>
        </p:spPr>
        <p:txBody>
          <a:bodyPr wrap="square">
            <a:spAutoFit/>
          </a:bodyPr>
          <a:lstStyle/>
          <a:p>
            <a:pPr algn="l"/>
            <a:r>
              <a:rPr sz="1200" b="1">
                <a:solidFill>
                  <a:srgbClr val="B90E31"/>
                </a:solidFill>
                <a:latin typeface="Calibri"/>
              </a:rPr>
              <a:t>Closing habits</a:t>
            </a:r>
          </a:p>
        </p:txBody>
      </p:sp>
      <p:sp>
        <p:nvSpPr>
          <p:cNvPr id="8" name="TextBox 7"/>
          <p:cNvSpPr txBox="1"/>
          <p:nvPr/>
        </p:nvSpPr>
        <p:spPr>
          <a:xfrm>
            <a:off x="502920" y="502920"/>
            <a:ext cx="11155680" cy="640080"/>
          </a:xfrm>
          <a:prstGeom prst="rect">
            <a:avLst/>
          </a:prstGeom>
          <a:noFill/>
        </p:spPr>
        <p:txBody>
          <a:bodyPr wrap="square">
            <a:spAutoFit/>
          </a:bodyPr>
          <a:lstStyle/>
          <a:p>
            <a:pPr algn="l"/>
            <a:r>
              <a:rPr sz="2600" b="1">
                <a:solidFill>
                  <a:srgbClr val="002452"/>
                </a:solidFill>
                <a:latin typeface="Calibri"/>
              </a:rPr>
              <a:t>Take these back to your own repo</a:t>
            </a:r>
          </a:p>
        </p:txBody>
      </p:sp>
      <p:sp>
        <p:nvSpPr>
          <p:cNvPr id="9" name="TextBox 8"/>
          <p:cNvSpPr txBox="1"/>
          <p:nvPr/>
        </p:nvSpPr>
        <p:spPr>
          <a:xfrm>
            <a:off x="502920" y="1143000"/>
            <a:ext cx="11064240" cy="1234440"/>
          </a:xfrm>
          <a:prstGeom prst="rect">
            <a:avLst/>
          </a:prstGeom>
          <a:noFill/>
        </p:spPr>
        <p:txBody>
          <a:bodyPr wrap="square">
            <a:spAutoFit/>
          </a:bodyPr>
          <a:lstStyle/>
          <a:p>
            <a:pPr algn="l"/>
            <a:r>
              <a:rPr sz="1500" b="0">
                <a:solidFill>
                  <a:srgbClr val="0C1A2E"/>
                </a:solidFill>
                <a:latin typeface="Calibri"/>
              </a:rPr>
              <a:t>Privacy Mode on, Ask before Agent, few attachments, one goal per chat, rules and skills for durable policy, dry-run SLURM review as legitimate success, MCP drafts until you approve. Those habits matter more than any single clever prompt.</a:t>
            </a:r>
          </a:p>
        </p:txBody>
      </p:sp>
      <p:sp>
        <p:nvSpPr>
          <p:cNvPr id="10" name="TextBox 9"/>
          <p:cNvSpPr txBox="1"/>
          <p:nvPr/>
        </p:nvSpPr>
        <p:spPr>
          <a:xfrm>
            <a:off x="502920" y="2468880"/>
            <a:ext cx="11064240" cy="3904488"/>
          </a:xfrm>
          <a:prstGeom prst="rect">
            <a:avLst/>
          </a:prstGeom>
          <a:noFill/>
        </p:spPr>
        <p:txBody>
          <a:bodyPr wrap="square">
            <a:spAutoFit/>
          </a:bodyPr>
          <a:lstStyle/>
          <a:p>
            <a:pPr algn="l">
              <a:spcAft>
                <a:spcPts val="800"/>
              </a:spcAft>
            </a:pPr>
            <a:r>
              <a:rPr sz="1500" b="0">
                <a:solidFill>
                  <a:srgbClr val="0C1A2E"/>
                </a:solidFill>
                <a:latin typeface="Calibri"/>
              </a:rPr>
              <a:t>-  When something fails on CAC, bring the checklist and both logs.</a:t>
            </a:r>
          </a:p>
          <a:p>
            <a:pPr algn="l">
              <a:spcAft>
                <a:spcPts val="800"/>
              </a:spcAft>
            </a:pPr>
            <a:r>
              <a:rPr sz="1500" b="0">
                <a:solidFill>
                  <a:srgbClr val="0C1A2E"/>
                </a:solidFill>
                <a:latin typeface="Calibri"/>
              </a:rPr>
              <a:t>-  When something fails in chat, bring a new thread and a three-line handoff.</a:t>
            </a:r>
          </a:p>
          <a:p>
            <a:pPr algn="l">
              <a:spcAft>
                <a:spcPts val="800"/>
              </a:spcAft>
            </a:pPr>
            <a:r>
              <a:rPr sz="1500" b="0">
                <a:solidFill>
                  <a:srgbClr val="0C1A2E"/>
                </a:solidFill>
                <a:latin typeface="Calibri"/>
              </a:rPr>
              <a:t>-  Curiosity is allowed; unbounded spend is not.</a:t>
            </a:r>
          </a:p>
        </p:txBody>
      </p:sp>
      <p:sp>
        <p:nvSpPr>
          <p:cNvPr id="11" name="TextBox 10"/>
          <p:cNvSpPr txBox="1"/>
          <p:nvPr/>
        </p:nvSpPr>
        <p:spPr>
          <a:xfrm>
            <a:off x="502920" y="6510528"/>
            <a:ext cx="11185855" cy="347472"/>
          </a:xfrm>
          <a:prstGeom prst="rect">
            <a:avLst/>
          </a:prstGeom>
          <a:noFill/>
        </p:spPr>
        <p:txBody>
          <a:bodyPr wrap="square">
            <a:spAutoFit/>
          </a:bodyPr>
          <a:lstStyle/>
          <a:p>
            <a:pPr algn="l"/>
            <a:r>
              <a:rPr sz="1000" b="0">
                <a:solidFill>
                  <a:srgbClr val="5A6A7E"/>
                </a:solidFill>
                <a:latin typeface="Calibri"/>
              </a:rPr>
              <a:t>CAC | Queen's University | cac.queensu.ca | Shadi Khalifa, PhD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063898" y="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127796" y="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66560"/>
            <a:ext cx="4063898" cy="91440"/>
          </a:xfrm>
          <a:prstGeom prst="rect">
            <a:avLst/>
          </a:prstGeom>
          <a:solidFill>
            <a:srgbClr val="0024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66560"/>
            <a:ext cx="4063898" cy="91440"/>
          </a:xfrm>
          <a:prstGeom prst="rect">
            <a:avLst/>
          </a:prstGeom>
          <a:solidFill>
            <a:srgbClr val="FAB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66560"/>
            <a:ext cx="4063899" cy="91440"/>
          </a:xfrm>
          <a:prstGeom prst="rect">
            <a:avLst/>
          </a:prstGeom>
          <a:solidFill>
            <a:srgbClr val="B90E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71600"/>
            <a:ext cx="10972800" cy="365760"/>
          </a:xfrm>
          <a:prstGeom prst="rect">
            <a:avLst/>
          </a:prstGeom>
          <a:noFill/>
        </p:spPr>
        <p:txBody>
          <a:bodyPr wrap="square">
            <a:spAutoFit/>
          </a:bodyPr>
          <a:lstStyle/>
          <a:p>
            <a:pPr algn="l"/>
            <a:r>
              <a:rPr sz="1400" b="1">
                <a:solidFill>
                  <a:srgbClr val="FABD0F"/>
                </a:solidFill>
                <a:latin typeface="Calibri"/>
              </a:rPr>
              <a:t>Thank you  |  Centre for Advanced Computing</a:t>
            </a:r>
          </a:p>
        </p:txBody>
      </p:sp>
      <p:sp>
        <p:nvSpPr>
          <p:cNvPr id="10" name="TextBox 9"/>
          <p:cNvSpPr txBox="1"/>
          <p:nvPr/>
        </p:nvSpPr>
        <p:spPr>
          <a:xfrm>
            <a:off x="640080" y="2011680"/>
            <a:ext cx="10972800" cy="1097280"/>
          </a:xfrm>
          <a:prstGeom prst="rect">
            <a:avLst/>
          </a:prstGeom>
          <a:noFill/>
        </p:spPr>
        <p:txBody>
          <a:bodyPr wrap="square">
            <a:spAutoFit/>
          </a:bodyPr>
          <a:lstStyle/>
          <a:p>
            <a:pPr algn="l"/>
            <a:r>
              <a:rPr sz="3600" b="1">
                <a:solidFill>
                  <a:srgbClr val="FFFFFF"/>
                </a:solidFill>
                <a:latin typeface="Calibri"/>
              </a:rPr>
              <a:t>Go build carefully</a:t>
            </a:r>
          </a:p>
        </p:txBody>
      </p:sp>
      <p:sp>
        <p:nvSpPr>
          <p:cNvPr id="11" name="TextBox 10"/>
          <p:cNvSpPr txBox="1"/>
          <p:nvPr/>
        </p:nvSpPr>
        <p:spPr>
          <a:xfrm>
            <a:off x="640080" y="3291840"/>
            <a:ext cx="10515600" cy="1097280"/>
          </a:xfrm>
          <a:prstGeom prst="rect">
            <a:avLst/>
          </a:prstGeom>
          <a:noFill/>
        </p:spPr>
        <p:txBody>
          <a:bodyPr wrap="square">
            <a:spAutoFit/>
          </a:bodyPr>
          <a:lstStyle/>
          <a:p>
            <a:pPr algn="l"/>
            <a:r>
              <a:rPr sz="1600" b="0">
                <a:solidFill>
                  <a:srgbClr val="B8C4D4"/>
                </a:solidFill>
                <a:latin typeface="Calibri"/>
              </a:rPr>
              <a:t>You now have a path from laptop exploration to CAC-ready SLURM drafts, with Projects, modes, skills, and MCP as practical vocabulary rather than buzzwords.</a:t>
            </a:r>
          </a:p>
        </p:txBody>
      </p:sp>
      <p:sp>
        <p:nvSpPr>
          <p:cNvPr id="12" name="TextBox 11"/>
          <p:cNvSpPr txBox="1"/>
          <p:nvPr/>
        </p:nvSpPr>
        <p:spPr>
          <a:xfrm>
            <a:off x="640080" y="4663440"/>
            <a:ext cx="10515600" cy="822960"/>
          </a:xfrm>
          <a:prstGeom prst="rect">
            <a:avLst/>
          </a:prstGeom>
          <a:noFill/>
        </p:spPr>
        <p:txBody>
          <a:bodyPr wrap="square">
            <a:spAutoFit/>
          </a:bodyPr>
          <a:lstStyle/>
          <a:p>
            <a:pPr algn="l"/>
            <a:r>
              <a:rPr sz="1400" b="0">
                <a:solidFill>
                  <a:srgbClr val="FABD0F"/>
                </a:solidFill>
                <a:latin typeface="Calibri"/>
              </a:rPr>
              <a:t>Shadi Khalifa, PhD &lt;khalifa.s@queensu.ca&gt;, Centre for Advanced Computing, Queen's University</a:t>
            </a:r>
          </a:p>
        </p:txBody>
      </p:sp>
      <p:sp>
        <p:nvSpPr>
          <p:cNvPr id="13" name="TextBox 12"/>
          <p:cNvSpPr txBox="1"/>
          <p:nvPr/>
        </p:nvSpPr>
        <p:spPr>
          <a:xfrm>
            <a:off x="640080" y="5440680"/>
            <a:ext cx="10515600" cy="365760"/>
          </a:xfrm>
          <a:prstGeom prst="rect">
            <a:avLst/>
          </a:prstGeom>
          <a:noFill/>
        </p:spPr>
        <p:txBody>
          <a:bodyPr wrap="square">
            <a:spAutoFit/>
          </a:bodyPr>
          <a:lstStyle/>
          <a:p>
            <a:pPr algn="l"/>
            <a:r>
              <a:rPr sz="1200" b="0">
                <a:solidFill>
                  <a:srgbClr val="B8C4D4"/>
                </a:solidFill>
                <a:latin typeface="Calibri"/>
              </a:rPr>
              <a:t>cac.queensu.ca  |  khalifa.s@queensu.ca</a:t>
            </a:r>
          </a:p>
        </p:txBody>
      </p:sp>
      <p:sp>
        <p:nvSpPr>
          <p:cNvPr id="14" name="TextBox 13"/>
          <p:cNvSpPr txBox="1"/>
          <p:nvPr/>
        </p:nvSpPr>
        <p:spPr>
          <a:xfrm>
            <a:off x="502920" y="6510528"/>
            <a:ext cx="11185855" cy="347472"/>
          </a:xfrm>
          <a:prstGeom prst="rect">
            <a:avLst/>
          </a:prstGeom>
          <a:noFill/>
        </p:spPr>
        <p:txBody>
          <a:bodyPr wrap="square">
            <a:spAutoFit/>
          </a:bodyPr>
          <a:lstStyle/>
          <a:p>
            <a:pPr algn="l"/>
            <a:r>
              <a:rPr sz="1000" b="0">
                <a:solidFill>
                  <a:srgbClr val="A8B8C8"/>
                </a:solidFill>
                <a:latin typeface="Calibri"/>
              </a:rPr>
              <a:t>CAC | Queen's University | cac.queensu.ca | Shadi Khalifa, PhD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